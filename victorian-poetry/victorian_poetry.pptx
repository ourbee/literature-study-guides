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Set the scene: Victorian era (1837–1901), Queen Victoria's reign. Britain is changing fast — Darwin, steam engines, the Empire. Poetry becomes the arena where thinkers wrestle with faith, doubt, love, and loss. Tonight's poets are the people at the centre of that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slide. Before diving into poets, ground students in the era. Key talking point: these poets weren't writing in a vacuum — they were responding to Darwin's bombshell, the grime of industrial cities, and a crisis of religious faith. "Dover Beach" (Arnold) is a perfect example: it's a love poem, but it's also a poem about the world losing its certainties.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Tennyson 1 of 2. Key talking points: Tennyson was a Victorian rock star — the most popular poet of his day. But beneath the polish was a man tormented by grief (Arthur Hallam died aged 22) and by Darwin's challenge to faith. "In Memoriam" took 17 years to write and is essentially a 133-canto journal of grief and doubt. "Ulysses" is a deceptively simple dramatic monologue: the old hero refuses to retire. Great poem to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Tennyson 2 of 2. Spend most time on "In Memoriam" and "Ulysses" as they tend to appear on syllabi. Class exercise: read the last few stanzas of "Ulysses" aloud — ask students what emotion they feel. Is Ulysses heroic or is he running away from grief?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Browning 1 of 2. The dramatic monologue is Browning's superpower. Key class exercise: Read "My Last Duchess" aloud — ask students: What has the Duke done? He never says. How do we know? This is a great entry point to the concept of the unreliable narrator. Students often find this poem deliciously creepy. Also worth noting: Browning was famously difficult to understand in his time — critics said he was obscure. He became famous only late in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Browning 2 of 2. Two Brownings for the price of one! Worth emphasising: Elizabeth Barrett Browning was MORE famous than Robert in their lifetimes. "Sonnets from the Portuguese" is one of the great sonnet sequences. Aurora Leigh is particularly important for any discussion of women and Victorian literature. Class activity: compare a Robert dramatic monologue with one of Elizabeth's sonnets — different modes, different intimacy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Arnold. The key contrast with Tennyson: both deal with faith and doubt, but Arnold is more pessimistic. He doesn't even try to re-find faith — he just says love is all we have. "Dover Beach" is perfect for close reading exercises. Famous class question: is the poem romantic (the speaker turns to his partner) or desperately sad (love is the only thing left)? The answer is both. Also worth noting: Arnold became MORE famous as a critic than as a poet, which is why his ideas like "culture as moral authority"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Christina Rossetti. Often under-taught compared to the male poets. Key argument to make: Goblin Market is one of the most discussed poems of the era — it's genuinely difficult to pin down. Is it a warning against sexuality? A celebration of sisterhood? Both? Great for a seminar discussion. "Remember" is a perfect first poem for close reading — manageable, structured, emotionally powerful. The volta (turn) in the sestet is a genuine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Gerard Manley Hopkins. The most technically innovative Victorian poet — and the most ignored in his own lifetime. Key point to make: Hopkins was a Jesuit priest who believed poetry and faith were intertwined. His technique was so strange that his friend Robert Bridges kept his poems in a drawer for 29 years before publishing them in 1918 — right when the Modernists were doing the same things. So Hopkins is simultaneously a Victorian and a proto-modernist. Read "God's Grandeur" aloud — the sound effects are extraordinary.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Bring it together: Victorian poetry wasn't just about the past or about pretty language. These poets were wrestling with the same questions we still wrestle with: What do we believe? How do we live when certainties collapse? How do we love? And how do we write about all of this? Their answers invented the tools of modern poetry. Suggested reading list to give students: In Memoriam (selections), Ulysses, My Last Duchess, Dover Beach, Goblin Market, God's Grandeur. Discussion question to end: Which poet feels most "modern" to you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Text 1"/>
          <p:cNvSpPr/>
          <p:nvPr/>
        </p:nvSpPr>
        <p:spPr>
          <a:xfrm>
            <a:off x="274320" y="-274320"/>
            <a:ext cx="2743200" cy="2743200"/>
          </a:xfrm>
          <a:prstGeom prst="rect">
            <a:avLst/>
          </a:prstGeom>
          <a:noFill/>
          <a:ln/>
        </p:spPr>
        <p:txBody>
          <a:bodyPr wrap="square" rtlCol="0" anchor="t"/>
          <a:lstStyle/>
          <a:p>
            <a:pPr algn="l" indent="0" marL="0">
              <a:buNone/>
            </a:pPr>
            <a:r>
              <a:rPr lang="en-US" sz="22000" b="1" dirty="0">
                <a:solidFill>
                  <a:srgbClr val="6B2737">
                    <a:alpha val="40000"/>
                  </a:srgbClr>
                </a:solidFill>
                <a:latin typeface="Cambria" pitchFamily="34" charset="0"/>
                <a:ea typeface="Cambria" pitchFamily="34" charset="-122"/>
                <a:cs typeface="Cambria" pitchFamily="34" charset="-120"/>
              </a:rPr>
              <a:t>“</a:t>
            </a:r>
            <a:endParaRPr lang="en-US" sz="22000" dirty="0"/>
          </a:p>
        </p:txBody>
      </p:sp>
      <p:sp>
        <p:nvSpPr>
          <p:cNvPr id="4" name="Text 2"/>
          <p:cNvSpPr/>
          <p:nvPr/>
        </p:nvSpPr>
        <p:spPr>
          <a:xfrm>
            <a:off x="6858000" y="2926080"/>
            <a:ext cx="2286000" cy="2743200"/>
          </a:xfrm>
          <a:prstGeom prst="rect">
            <a:avLst/>
          </a:prstGeom>
          <a:noFill/>
          <a:ln/>
        </p:spPr>
        <p:txBody>
          <a:bodyPr wrap="square" rtlCol="0" anchor="t"/>
          <a:lstStyle/>
          <a:p>
            <a:pPr algn="r" indent="0" marL="0">
              <a:buNone/>
            </a:pPr>
            <a:r>
              <a:rPr lang="en-US" sz="22000" b="1" dirty="0">
                <a:solidFill>
                  <a:srgbClr val="6B2737">
                    <a:alpha val="40000"/>
                  </a:srgbClr>
                </a:solidFill>
                <a:latin typeface="Cambria" pitchFamily="34" charset="0"/>
                <a:ea typeface="Cambria" pitchFamily="34" charset="-122"/>
                <a:cs typeface="Cambria" pitchFamily="34" charset="-120"/>
              </a:rPr>
              <a:t>”</a:t>
            </a:r>
            <a:endParaRPr lang="en-US" sz="22000" dirty="0"/>
          </a:p>
        </p:txBody>
      </p:sp>
      <p:sp>
        <p:nvSpPr>
          <p:cNvPr id="5" name="Text 3"/>
          <p:cNvSpPr/>
          <p:nvPr/>
        </p:nvSpPr>
        <p:spPr>
          <a:xfrm>
            <a:off x="640080" y="1188720"/>
            <a:ext cx="7863840" cy="13716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The Giants of Victorian Poetry</a:t>
            </a:r>
            <a:endParaRPr lang="en-US" sz="4200" dirty="0"/>
          </a:p>
        </p:txBody>
      </p:sp>
      <p:sp>
        <p:nvSpPr>
          <p:cNvPr id="6" name="Shape 4"/>
          <p:cNvSpPr/>
          <p:nvPr/>
        </p:nvSpPr>
        <p:spPr>
          <a:xfrm>
            <a:off x="2560320" y="2697480"/>
            <a:ext cx="4023360" cy="41148"/>
          </a:xfrm>
          <a:prstGeom prst="rect">
            <a:avLst/>
          </a:prstGeom>
          <a:solidFill>
            <a:srgbClr val="C9A84C"/>
          </a:solidFill>
          <a:ln w="12700">
            <a:solidFill>
              <a:srgbClr val="C9A84C"/>
            </a:solidFill>
            <a:prstDash val="solid"/>
          </a:ln>
        </p:spPr>
      </p:sp>
      <p:sp>
        <p:nvSpPr>
          <p:cNvPr id="7" name="Text 5"/>
          <p:cNvSpPr/>
          <p:nvPr/>
        </p:nvSpPr>
        <p:spPr>
          <a:xfrm>
            <a:off x="640080" y="2880360"/>
            <a:ext cx="7863840" cy="502920"/>
          </a:xfrm>
          <a:prstGeom prst="rect">
            <a:avLst/>
          </a:prstGeom>
          <a:noFill/>
          <a:ln/>
        </p:spPr>
        <p:txBody>
          <a:bodyPr wrap="square" rtlCol="0" anchor="ctr"/>
          <a:lstStyle/>
          <a:p>
            <a:pPr algn="ctr" indent="0" marL="0">
              <a:buNone/>
            </a:pPr>
            <a:r>
              <a:rPr lang="en-US" sz="1600" i="1" dirty="0">
                <a:solidFill>
                  <a:srgbClr val="F0DFA0"/>
                </a:solidFill>
                <a:latin typeface="Calibri" pitchFamily="34" charset="0"/>
                <a:ea typeface="Calibri" pitchFamily="34" charset="-122"/>
                <a:cs typeface="Calibri" pitchFamily="34" charset="-120"/>
              </a:rPr>
              <a:t>Tennyson · Browning · Arnold · Rossetti · Hopkins</a:t>
            </a:r>
            <a:endParaRPr lang="en-US" sz="1600" dirty="0"/>
          </a:p>
        </p:txBody>
      </p:sp>
      <p:sp>
        <p:nvSpPr>
          <p:cNvPr id="8" name="Text 6"/>
          <p:cNvSpPr/>
          <p:nvPr/>
        </p:nvSpPr>
        <p:spPr>
          <a:xfrm>
            <a:off x="640080" y="3520440"/>
            <a:ext cx="7863840" cy="411480"/>
          </a:xfrm>
          <a:prstGeom prst="rect">
            <a:avLst/>
          </a:prstGeom>
          <a:noFill/>
          <a:ln/>
        </p:spPr>
        <p:txBody>
          <a:bodyPr wrap="square" rtlCol="0" anchor="ctr"/>
          <a:lstStyle/>
          <a:p>
            <a:pPr algn="ctr" indent="0" marL="0">
              <a:buNone/>
            </a:pPr>
            <a:r>
              <a:rPr lang="en-US" sz="1300" dirty="0">
                <a:solidFill>
                  <a:srgbClr val="7A6B5A"/>
                </a:solidFill>
                <a:latin typeface="Calibri" pitchFamily="34" charset="0"/>
                <a:ea typeface="Calibri" pitchFamily="34" charset="-122"/>
                <a:cs typeface="Calibri" pitchFamily="34" charset="-120"/>
              </a:rPr>
              <a:t>Victorian Poetry  |  1837–1901</a:t>
            </a:r>
            <a:endParaRPr lang="en-US" sz="1300" dirty="0"/>
          </a:p>
        </p:txBody>
      </p:sp>
      <p:sp>
        <p:nvSpPr>
          <p:cNvPr id="9" name="Shape 7"/>
          <p:cNvSpPr/>
          <p:nvPr/>
        </p:nvSpPr>
        <p:spPr>
          <a:xfrm>
            <a:off x="3200400" y="4480560"/>
            <a:ext cx="2743200" cy="411480"/>
          </a:xfrm>
          <a:prstGeom prst="rect">
            <a:avLst/>
          </a:prstGeom>
          <a:solidFill>
            <a:srgbClr val="6B2737"/>
          </a:solidFill>
          <a:ln w="12700">
            <a:solidFill>
              <a:srgbClr val="6B2737"/>
            </a:solidFill>
            <a:prstDash val="solid"/>
          </a:ln>
        </p:spPr>
      </p:sp>
      <p:sp>
        <p:nvSpPr>
          <p:cNvPr id="10" name="Text 8"/>
          <p:cNvSpPr/>
          <p:nvPr/>
        </p:nvSpPr>
        <p:spPr>
          <a:xfrm>
            <a:off x="3200400" y="4480560"/>
            <a:ext cx="27432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An Undergraduate Introduction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6"/>
          </a:solidFill>
          <a:ln/>
        </p:spPr>
      </p:sp>
      <p:sp>
        <p:nvSpPr>
          <p:cNvPr id="3" name="Text 1"/>
          <p:cNvSpPr/>
          <p:nvPr/>
        </p:nvSpPr>
        <p:spPr>
          <a:xfrm>
            <a:off x="457200" y="320040"/>
            <a:ext cx="4572000" cy="68580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World That Made the Poetry</a:t>
            </a:r>
            <a:endParaRPr lang="en-US" sz="3000" dirty="0"/>
          </a:p>
        </p:txBody>
      </p:sp>
      <p:sp>
        <p:nvSpPr>
          <p:cNvPr id="4" name="Text 2"/>
          <p:cNvSpPr/>
          <p:nvPr/>
        </p:nvSpPr>
        <p:spPr>
          <a:xfrm>
            <a:off x="457200" y="1097280"/>
            <a:ext cx="4572000" cy="822960"/>
          </a:xfrm>
          <a:prstGeom prst="rect">
            <a:avLst/>
          </a:prstGeom>
          <a:noFill/>
          <a:ln/>
        </p:spPr>
        <p:txBody>
          <a:bodyPr wrap="square" rtlCol="0" anchor="ctr"/>
          <a:lstStyle/>
          <a:p>
            <a:pPr algn="l" indent="0" marL="0">
              <a:buNone/>
            </a:pPr>
            <a:r>
              <a:rPr lang="en-US" sz="1300" dirty="0">
                <a:solidFill>
                  <a:srgbClr val="7A6B5A"/>
                </a:solidFill>
                <a:latin typeface="Calibri" pitchFamily="34" charset="0"/>
                <a:ea typeface="Calibri" pitchFamily="34" charset="-122"/>
                <a:cs typeface="Calibri" pitchFamily="34" charset="-120"/>
              </a:rPr>
              <a:t>Victorian Britain was the most turbulent place on earth. Four forces reshaped everything — and poetry was the space where people thought out loud about what it all meant.</a:t>
            </a:r>
            <a:endParaRPr lang="en-US" sz="1300" dirty="0"/>
          </a:p>
        </p:txBody>
      </p:sp>
      <p:sp>
        <p:nvSpPr>
          <p:cNvPr id="5" name="Shape 3"/>
          <p:cNvSpPr/>
          <p:nvPr/>
        </p:nvSpPr>
        <p:spPr>
          <a:xfrm>
            <a:off x="411480" y="1828800"/>
            <a:ext cx="4663440" cy="713232"/>
          </a:xfrm>
          <a:prstGeom prst="rect">
            <a:avLst/>
          </a:prstGeom>
          <a:solidFill>
            <a:srgbClr val="FFFFFF"/>
          </a:solidFill>
          <a:ln w="12700">
            <a:solidFill>
              <a:srgbClr val="E0D6CC"/>
            </a:solidFill>
            <a:prstDash val="solid"/>
          </a:ln>
          <a:effectLst>
            <a:outerShdw sx="100000" sy="100000" kx="0" ky="0" algn="bl" rotWithShape="0" blurRad="50800" dist="25400" dir="2700000">
              <a:srgbClr val="CCCCCC">
                <a:alpha val="25000"/>
              </a:srgbClr>
            </a:outerShdw>
          </a:effectLst>
        </p:spPr>
      </p:sp>
      <p:sp>
        <p:nvSpPr>
          <p:cNvPr id="6" name="Text 4"/>
          <p:cNvSpPr/>
          <p:nvPr/>
        </p:nvSpPr>
        <p:spPr>
          <a:xfrm>
            <a:off x="548640" y="1847088"/>
            <a:ext cx="4480560" cy="274320"/>
          </a:xfrm>
          <a:prstGeom prst="rect">
            <a:avLst/>
          </a:prstGeom>
          <a:noFill/>
          <a:ln/>
        </p:spPr>
        <p:txBody>
          <a:bodyPr wrap="square" lIns="0" tIns="0" rIns="0" bIns="0" rtlCol="0" anchor="ctr"/>
          <a:lstStyle/>
          <a:p>
            <a:pPr indent="0" marL="0">
              <a:buNone/>
            </a:pPr>
            <a:r>
              <a:rPr lang="en-US" sz="1300" b="1" dirty="0">
                <a:solidFill>
                  <a:srgbClr val="6B2737"/>
                </a:solidFill>
                <a:latin typeface="Cambria" pitchFamily="34" charset="0"/>
                <a:ea typeface="Cambria" pitchFamily="34" charset="-122"/>
                <a:cs typeface="Cambria" pitchFamily="34" charset="-120"/>
              </a:rPr>
              <a:t>⚙️  Industrial Revolution</a:t>
            </a:r>
            <a:endParaRPr lang="en-US" sz="1300" dirty="0"/>
          </a:p>
        </p:txBody>
      </p:sp>
      <p:sp>
        <p:nvSpPr>
          <p:cNvPr id="7" name="Text 5"/>
          <p:cNvSpPr/>
          <p:nvPr/>
        </p:nvSpPr>
        <p:spPr>
          <a:xfrm>
            <a:off x="548640" y="2121408"/>
            <a:ext cx="4480560" cy="347472"/>
          </a:xfrm>
          <a:prstGeom prst="rect">
            <a:avLst/>
          </a:prstGeom>
          <a:noFill/>
          <a:ln/>
        </p:spPr>
        <p:txBody>
          <a:bodyPr wrap="square" lIns="0" tIns="0" rIns="0" bIns="0" rtlCol="0" anchor="ctr"/>
          <a:lstStyle/>
          <a:p>
            <a:pPr indent="0" marL="0">
              <a:buNone/>
            </a:pPr>
            <a:r>
              <a:rPr lang="en-US" sz="1100" dirty="0">
                <a:solidFill>
                  <a:srgbClr val="7A6B5A"/>
                </a:solidFill>
                <a:latin typeface="Calibri" pitchFamily="34" charset="0"/>
                <a:ea typeface="Calibri" pitchFamily="34" charset="-122"/>
                <a:cs typeface="Calibri" pitchFamily="34" charset="-120"/>
              </a:rPr>
              <a:t>Factories, cities, child labour — the old pastoral England disappearing.</a:t>
            </a:r>
            <a:endParaRPr lang="en-US" sz="1100" dirty="0"/>
          </a:p>
        </p:txBody>
      </p:sp>
      <p:sp>
        <p:nvSpPr>
          <p:cNvPr id="8" name="Shape 6"/>
          <p:cNvSpPr/>
          <p:nvPr/>
        </p:nvSpPr>
        <p:spPr>
          <a:xfrm>
            <a:off x="411480" y="2697480"/>
            <a:ext cx="4663440" cy="713232"/>
          </a:xfrm>
          <a:prstGeom prst="rect">
            <a:avLst/>
          </a:prstGeom>
          <a:solidFill>
            <a:srgbClr val="FFFFFF"/>
          </a:solidFill>
          <a:ln w="12700">
            <a:solidFill>
              <a:srgbClr val="E0D6CC"/>
            </a:solidFill>
            <a:prstDash val="solid"/>
          </a:ln>
          <a:effectLst>
            <a:outerShdw sx="100000" sy="100000" kx="0" ky="0" algn="bl" rotWithShape="0" blurRad="50800" dist="25400" dir="2700000">
              <a:srgbClr val="CCCCCC">
                <a:alpha val="25000"/>
              </a:srgbClr>
            </a:outerShdw>
          </a:effectLst>
        </p:spPr>
      </p:sp>
      <p:sp>
        <p:nvSpPr>
          <p:cNvPr id="9" name="Text 7"/>
          <p:cNvSpPr/>
          <p:nvPr/>
        </p:nvSpPr>
        <p:spPr>
          <a:xfrm>
            <a:off x="548640" y="2715768"/>
            <a:ext cx="4480560" cy="274320"/>
          </a:xfrm>
          <a:prstGeom prst="rect">
            <a:avLst/>
          </a:prstGeom>
          <a:noFill/>
          <a:ln/>
        </p:spPr>
        <p:txBody>
          <a:bodyPr wrap="square" lIns="0" tIns="0" rIns="0" bIns="0" rtlCol="0" anchor="ctr"/>
          <a:lstStyle/>
          <a:p>
            <a:pPr indent="0" marL="0">
              <a:buNone/>
            </a:pPr>
            <a:r>
              <a:rPr lang="en-US" sz="1300" b="1" dirty="0">
                <a:solidFill>
                  <a:srgbClr val="6B2737"/>
                </a:solidFill>
                <a:latin typeface="Cambria" pitchFamily="34" charset="0"/>
                <a:ea typeface="Cambria" pitchFamily="34" charset="-122"/>
                <a:cs typeface="Cambria" pitchFamily="34" charset="-120"/>
              </a:rPr>
              <a:t>🔬  Darwin &amp; Science</a:t>
            </a:r>
            <a:endParaRPr lang="en-US" sz="1300" dirty="0"/>
          </a:p>
        </p:txBody>
      </p:sp>
      <p:sp>
        <p:nvSpPr>
          <p:cNvPr id="10" name="Text 8"/>
          <p:cNvSpPr/>
          <p:nvPr/>
        </p:nvSpPr>
        <p:spPr>
          <a:xfrm>
            <a:off x="548640" y="2990088"/>
            <a:ext cx="4480560" cy="347472"/>
          </a:xfrm>
          <a:prstGeom prst="rect">
            <a:avLst/>
          </a:prstGeom>
          <a:noFill/>
          <a:ln/>
        </p:spPr>
        <p:txBody>
          <a:bodyPr wrap="square" lIns="0" tIns="0" rIns="0" bIns="0" rtlCol="0" anchor="ctr"/>
          <a:lstStyle/>
          <a:p>
            <a:pPr indent="0" marL="0">
              <a:buNone/>
            </a:pPr>
            <a:r>
              <a:rPr lang="en-US" sz="1100" dirty="0">
                <a:solidFill>
                  <a:srgbClr val="7A6B5A"/>
                </a:solidFill>
                <a:latin typeface="Calibri" pitchFamily="34" charset="0"/>
                <a:ea typeface="Calibri" pitchFamily="34" charset="-122"/>
                <a:cs typeface="Calibri" pitchFamily="34" charset="-120"/>
              </a:rPr>
              <a:t>On the Origin of Species (1859) shook faith in Creation.</a:t>
            </a:r>
            <a:endParaRPr lang="en-US" sz="1100" dirty="0"/>
          </a:p>
        </p:txBody>
      </p:sp>
      <p:sp>
        <p:nvSpPr>
          <p:cNvPr id="11" name="Shape 9"/>
          <p:cNvSpPr/>
          <p:nvPr/>
        </p:nvSpPr>
        <p:spPr>
          <a:xfrm>
            <a:off x="411480" y="3566160"/>
            <a:ext cx="4663440" cy="713232"/>
          </a:xfrm>
          <a:prstGeom prst="rect">
            <a:avLst/>
          </a:prstGeom>
          <a:solidFill>
            <a:srgbClr val="FFFFFF"/>
          </a:solidFill>
          <a:ln w="12700">
            <a:solidFill>
              <a:srgbClr val="E0D6CC"/>
            </a:solidFill>
            <a:prstDash val="solid"/>
          </a:ln>
          <a:effectLst>
            <a:outerShdw sx="100000" sy="100000" kx="0" ky="0" algn="bl" rotWithShape="0" blurRad="50800" dist="25400" dir="2700000">
              <a:srgbClr val="CCCCCC">
                <a:alpha val="25000"/>
              </a:srgbClr>
            </a:outerShdw>
          </a:effectLst>
        </p:spPr>
      </p:sp>
      <p:sp>
        <p:nvSpPr>
          <p:cNvPr id="12" name="Text 10"/>
          <p:cNvSpPr/>
          <p:nvPr/>
        </p:nvSpPr>
        <p:spPr>
          <a:xfrm>
            <a:off x="548640" y="3584448"/>
            <a:ext cx="4480560" cy="274320"/>
          </a:xfrm>
          <a:prstGeom prst="rect">
            <a:avLst/>
          </a:prstGeom>
          <a:noFill/>
          <a:ln/>
        </p:spPr>
        <p:txBody>
          <a:bodyPr wrap="square" lIns="0" tIns="0" rIns="0" bIns="0" rtlCol="0" anchor="ctr"/>
          <a:lstStyle/>
          <a:p>
            <a:pPr indent="0" marL="0">
              <a:buNone/>
            </a:pPr>
            <a:r>
              <a:rPr lang="en-US" sz="1300" b="1" dirty="0">
                <a:solidFill>
                  <a:srgbClr val="6B2737"/>
                </a:solidFill>
                <a:latin typeface="Cambria" pitchFamily="34" charset="0"/>
                <a:ea typeface="Cambria" pitchFamily="34" charset="-122"/>
                <a:cs typeface="Cambria" pitchFamily="34" charset="-120"/>
              </a:rPr>
              <a:t>🏛️  Empire &amp; Nation</a:t>
            </a:r>
            <a:endParaRPr lang="en-US" sz="1300" dirty="0"/>
          </a:p>
        </p:txBody>
      </p:sp>
      <p:sp>
        <p:nvSpPr>
          <p:cNvPr id="13" name="Text 11"/>
          <p:cNvSpPr/>
          <p:nvPr/>
        </p:nvSpPr>
        <p:spPr>
          <a:xfrm>
            <a:off x="548640" y="3858768"/>
            <a:ext cx="4480560" cy="347472"/>
          </a:xfrm>
          <a:prstGeom prst="rect">
            <a:avLst/>
          </a:prstGeom>
          <a:noFill/>
          <a:ln/>
        </p:spPr>
        <p:txBody>
          <a:bodyPr wrap="square" lIns="0" tIns="0" rIns="0" bIns="0" rtlCol="0" anchor="ctr"/>
          <a:lstStyle/>
          <a:p>
            <a:pPr indent="0" marL="0">
              <a:buNone/>
            </a:pPr>
            <a:r>
              <a:rPr lang="en-US" sz="1100" dirty="0">
                <a:solidFill>
                  <a:srgbClr val="7A6B5A"/>
                </a:solidFill>
                <a:latin typeface="Calibri" pitchFamily="34" charset="0"/>
                <a:ea typeface="Calibri" pitchFamily="34" charset="-122"/>
                <a:cs typeface="Calibri" pitchFamily="34" charset="-120"/>
              </a:rPr>
              <a:t>Britain ruled a quarter of the earth. Pride and anxiety coexisted.</a:t>
            </a:r>
            <a:endParaRPr lang="en-US" sz="1100" dirty="0"/>
          </a:p>
        </p:txBody>
      </p:sp>
      <p:sp>
        <p:nvSpPr>
          <p:cNvPr id="14" name="Shape 12"/>
          <p:cNvSpPr/>
          <p:nvPr/>
        </p:nvSpPr>
        <p:spPr>
          <a:xfrm>
            <a:off x="411480" y="4434840"/>
            <a:ext cx="4663440" cy="713232"/>
          </a:xfrm>
          <a:prstGeom prst="rect">
            <a:avLst/>
          </a:prstGeom>
          <a:solidFill>
            <a:srgbClr val="FFFFFF"/>
          </a:solidFill>
          <a:ln w="12700">
            <a:solidFill>
              <a:srgbClr val="E0D6CC"/>
            </a:solidFill>
            <a:prstDash val="solid"/>
          </a:ln>
          <a:effectLst>
            <a:outerShdw sx="100000" sy="100000" kx="0" ky="0" algn="bl" rotWithShape="0" blurRad="50800" dist="25400" dir="2700000">
              <a:srgbClr val="CCCCCC">
                <a:alpha val="25000"/>
              </a:srgbClr>
            </a:outerShdw>
          </a:effectLst>
        </p:spPr>
      </p:sp>
      <p:sp>
        <p:nvSpPr>
          <p:cNvPr id="15" name="Text 13"/>
          <p:cNvSpPr/>
          <p:nvPr/>
        </p:nvSpPr>
        <p:spPr>
          <a:xfrm>
            <a:off x="548640" y="4453128"/>
            <a:ext cx="4480560" cy="274320"/>
          </a:xfrm>
          <a:prstGeom prst="rect">
            <a:avLst/>
          </a:prstGeom>
          <a:noFill/>
          <a:ln/>
        </p:spPr>
        <p:txBody>
          <a:bodyPr wrap="square" lIns="0" tIns="0" rIns="0" bIns="0" rtlCol="0" anchor="ctr"/>
          <a:lstStyle/>
          <a:p>
            <a:pPr indent="0" marL="0">
              <a:buNone/>
            </a:pPr>
            <a:r>
              <a:rPr lang="en-US" sz="1300" b="1" dirty="0">
                <a:solidFill>
                  <a:srgbClr val="6B2737"/>
                </a:solidFill>
                <a:latin typeface="Cambria" pitchFamily="34" charset="0"/>
                <a:ea typeface="Cambria" pitchFamily="34" charset="-122"/>
                <a:cs typeface="Cambria" pitchFamily="34" charset="-120"/>
              </a:rPr>
              <a:t>✝️  Crisis of Faith</a:t>
            </a:r>
            <a:endParaRPr lang="en-US" sz="1300" dirty="0"/>
          </a:p>
        </p:txBody>
      </p:sp>
      <p:sp>
        <p:nvSpPr>
          <p:cNvPr id="16" name="Text 14"/>
          <p:cNvSpPr/>
          <p:nvPr/>
        </p:nvSpPr>
        <p:spPr>
          <a:xfrm>
            <a:off x="548640" y="4727448"/>
            <a:ext cx="4480560" cy="347472"/>
          </a:xfrm>
          <a:prstGeom prst="rect">
            <a:avLst/>
          </a:prstGeom>
          <a:noFill/>
          <a:ln/>
        </p:spPr>
        <p:txBody>
          <a:bodyPr wrap="square" lIns="0" tIns="0" rIns="0" bIns="0" rtlCol="0" anchor="ctr"/>
          <a:lstStyle/>
          <a:p>
            <a:pPr indent="0" marL="0">
              <a:buNone/>
            </a:pPr>
            <a:r>
              <a:rPr lang="en-US" sz="1100" dirty="0">
                <a:solidFill>
                  <a:srgbClr val="7A6B5A"/>
                </a:solidFill>
                <a:latin typeface="Calibri" pitchFamily="34" charset="0"/>
                <a:ea typeface="Calibri" pitchFamily="34" charset="-122"/>
                <a:cs typeface="Calibri" pitchFamily="34" charset="-120"/>
              </a:rPr>
              <a:t>Could you believe in God after Darwin? Many Victorians weren't sure.</a:t>
            </a:r>
            <a:endParaRPr lang="en-US" sz="1100" dirty="0"/>
          </a:p>
        </p:txBody>
      </p:sp>
      <p:sp>
        <p:nvSpPr>
          <p:cNvPr id="17" name="Shape 15"/>
          <p:cNvSpPr/>
          <p:nvPr/>
        </p:nvSpPr>
        <p:spPr>
          <a:xfrm>
            <a:off x="5349240" y="457200"/>
            <a:ext cx="3337560" cy="4434840"/>
          </a:xfrm>
          <a:prstGeom prst="rect">
            <a:avLst/>
          </a:prstGeom>
          <a:solidFill>
            <a:srgbClr val="1A1A2E"/>
          </a:solidFill>
          <a:ln w="12700">
            <a:solidFill>
              <a:srgbClr val="1A1A2E"/>
            </a:solidFill>
            <a:prstDash val="solid"/>
          </a:ln>
        </p:spPr>
      </p:sp>
      <p:sp>
        <p:nvSpPr>
          <p:cNvPr id="18" name="Text 16"/>
          <p:cNvSpPr/>
          <p:nvPr/>
        </p:nvSpPr>
        <p:spPr>
          <a:xfrm>
            <a:off x="5440680" y="502920"/>
            <a:ext cx="914400" cy="1097280"/>
          </a:xfrm>
          <a:prstGeom prst="rect">
            <a:avLst/>
          </a:prstGeom>
          <a:noFill/>
          <a:ln/>
        </p:spPr>
        <p:txBody>
          <a:bodyPr wrap="square" lIns="0" tIns="0" rIns="0" bIns="0" rtlCol="0" anchor="ctr"/>
          <a:lstStyle/>
          <a:p>
            <a:pPr indent="0" marL="0">
              <a:buNone/>
            </a:pPr>
            <a:r>
              <a:rPr lang="en-US" sz="8000" b="1" dirty="0">
                <a:solidFill>
                  <a:srgbClr val="C9A84C"/>
                </a:solidFill>
                <a:latin typeface="Cambria" pitchFamily="34" charset="0"/>
                <a:ea typeface="Cambria" pitchFamily="34" charset="-122"/>
                <a:cs typeface="Cambria" pitchFamily="34" charset="-120"/>
              </a:rPr>
              <a:t>“</a:t>
            </a:r>
            <a:endParaRPr lang="en-US" sz="8000" dirty="0"/>
          </a:p>
        </p:txBody>
      </p:sp>
      <p:sp>
        <p:nvSpPr>
          <p:cNvPr id="19" name="Text 17"/>
          <p:cNvSpPr/>
          <p:nvPr/>
        </p:nvSpPr>
        <p:spPr>
          <a:xfrm>
            <a:off x="5486400" y="1188720"/>
            <a:ext cx="3017520" cy="1645920"/>
          </a:xfrm>
          <a:prstGeom prst="rect">
            <a:avLst/>
          </a:prstGeom>
          <a:noFill/>
          <a:ln/>
        </p:spPr>
        <p:txBody>
          <a:bodyPr wrap="square" rtlCol="0" anchor="ctr"/>
          <a:lstStyle/>
          <a:p>
            <a:pPr algn="l" indent="0" marL="0">
              <a:buNone/>
            </a:pPr>
            <a:r>
              <a:rPr lang="en-US" sz="1400" i="1" dirty="0">
                <a:solidFill>
                  <a:srgbClr val="FFFFFF"/>
                </a:solidFill>
                <a:latin typeface="Cambria" pitchFamily="34" charset="0"/>
                <a:ea typeface="Cambria" pitchFamily="34" charset="-122"/>
                <a:cs typeface="Cambria" pitchFamily="34" charset="-120"/>
              </a:rPr>
              <a:t>Ah, love, let us be true</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To one another! for the world…</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Hath really neither joy, nor love,</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nor light…</a:t>
            </a:r>
            <a:endParaRPr lang="en-US" sz="1400" dirty="0"/>
          </a:p>
        </p:txBody>
      </p:sp>
      <p:sp>
        <p:nvSpPr>
          <p:cNvPr id="20" name="Text 18"/>
          <p:cNvSpPr/>
          <p:nvPr/>
        </p:nvSpPr>
        <p:spPr>
          <a:xfrm>
            <a:off x="5486400" y="2880360"/>
            <a:ext cx="3017520" cy="548640"/>
          </a:xfrm>
          <a:prstGeom prst="rect">
            <a:avLst/>
          </a:prstGeom>
          <a:noFill/>
          <a:ln/>
        </p:spPr>
        <p:txBody>
          <a:bodyPr wrap="square" rtlCol="0" anchor="ctr"/>
          <a:lstStyle/>
          <a:p>
            <a:pPr algn="l" indent="0" marL="0">
              <a:buNone/>
            </a:pPr>
            <a:r>
              <a:rPr lang="en-US" sz="1100" dirty="0">
                <a:solidFill>
                  <a:srgbClr val="C9A84C"/>
                </a:solidFill>
                <a:latin typeface="Calibri" pitchFamily="34" charset="0"/>
                <a:ea typeface="Calibri" pitchFamily="34" charset="-122"/>
                <a:cs typeface="Calibri" pitchFamily="34" charset="-120"/>
              </a:rPr>
              <a:t>— Matthew Arnold</a:t>
            </a:r>
            <a:endParaRPr lang="en-US" sz="1100" dirty="0"/>
          </a:p>
          <a:p>
            <a:pPr algn="l" indent="0" marL="0">
              <a:buNone/>
            </a:pPr>
            <a:r>
              <a:rPr lang="en-US" sz="1100" dirty="0">
                <a:solidFill>
                  <a:srgbClr val="C9A84C"/>
                </a:solidFill>
                <a:latin typeface="Calibri" pitchFamily="34" charset="0"/>
                <a:ea typeface="Calibri" pitchFamily="34" charset="-122"/>
                <a:cs typeface="Calibri" pitchFamily="34" charset="-120"/>
              </a:rPr>
              <a:t>"Dover Beach"</a:t>
            </a:r>
            <a:endParaRPr lang="en-US" sz="1100" dirty="0"/>
          </a:p>
        </p:txBody>
      </p:sp>
      <p:sp>
        <p:nvSpPr>
          <p:cNvPr id="21" name="Text 19"/>
          <p:cNvSpPr/>
          <p:nvPr/>
        </p:nvSpPr>
        <p:spPr>
          <a:xfrm>
            <a:off x="5486400" y="3520440"/>
            <a:ext cx="3017520" cy="777240"/>
          </a:xfrm>
          <a:prstGeom prst="rect">
            <a:avLst/>
          </a:prstGeom>
          <a:noFill/>
          <a:ln/>
        </p:spPr>
        <p:txBody>
          <a:bodyPr wrap="square" rtlCol="0" anchor="ctr"/>
          <a:lstStyle/>
          <a:p>
            <a:pPr algn="l" indent="0" marL="0">
              <a:buNone/>
            </a:pPr>
            <a:r>
              <a:rPr lang="en-US" sz="1100" i="1" dirty="0">
                <a:solidFill>
                  <a:srgbClr val="AAAAAA"/>
                </a:solidFill>
                <a:latin typeface="Calibri" pitchFamily="34" charset="0"/>
                <a:ea typeface="Calibri" pitchFamily="34" charset="-122"/>
                <a:cs typeface="Calibri" pitchFamily="34" charset="-120"/>
              </a:rPr>
              <a:t>The Victorian poet's job:</a:t>
            </a:r>
            <a:endParaRPr lang="en-US" sz="1100" dirty="0"/>
          </a:p>
          <a:p>
            <a:pPr algn="l" indent="0" marL="0">
              <a:buNone/>
            </a:pPr>
            <a:r>
              <a:rPr lang="en-US" sz="1100" i="1" dirty="0">
                <a:solidFill>
                  <a:srgbClr val="AAAAAA"/>
                </a:solidFill>
                <a:latin typeface="Calibri" pitchFamily="34" charset="0"/>
                <a:ea typeface="Calibri" pitchFamily="34" charset="-122"/>
                <a:cs typeface="Calibri" pitchFamily="34" charset="-120"/>
              </a:rPr>
              <a:t>make sense of a world</a:t>
            </a:r>
            <a:endParaRPr lang="en-US" sz="1100" dirty="0"/>
          </a:p>
          <a:p>
            <a:pPr algn="l" indent="0" marL="0">
              <a:buNone/>
            </a:pPr>
            <a:r>
              <a:rPr lang="en-US" sz="1100" i="1" dirty="0">
                <a:solidFill>
                  <a:srgbClr val="AAAAAA"/>
                </a:solidFill>
                <a:latin typeface="Calibri" pitchFamily="34" charset="0"/>
                <a:ea typeface="Calibri" pitchFamily="34" charset="-122"/>
                <a:cs typeface="Calibri" pitchFamily="34" charset="-120"/>
              </a:rPr>
              <a:t>that had lost its certainties.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0"/>
            <a:ext cx="164592" cy="5143500"/>
          </a:xfrm>
          <a:prstGeom prst="rect">
            <a:avLst/>
          </a:prstGeom>
          <a:solidFill>
            <a:srgbClr val="C9A84C"/>
          </a:solidFill>
          <a:ln w="12700">
            <a:solidFill>
              <a:srgbClr val="C9A84C"/>
            </a:solidFill>
            <a:prstDash val="solid"/>
          </a:ln>
        </p:spPr>
      </p:sp>
      <p:sp>
        <p:nvSpPr>
          <p:cNvPr id="4" name="Shape 2"/>
          <p:cNvSpPr/>
          <p:nvPr/>
        </p:nvSpPr>
        <p:spPr>
          <a:xfrm>
            <a:off x="320040" y="320040"/>
            <a:ext cx="1005840" cy="457200"/>
          </a:xfrm>
          <a:prstGeom prst="rect">
            <a:avLst/>
          </a:prstGeom>
          <a:solidFill>
            <a:srgbClr val="6B2737"/>
          </a:solidFill>
          <a:ln w="12700">
            <a:solidFill>
              <a:srgbClr val="6B2737"/>
            </a:solidFill>
            <a:prstDash val="solid"/>
          </a:ln>
        </p:spPr>
      </p:sp>
      <p:sp>
        <p:nvSpPr>
          <p:cNvPr id="5" name="Text 3"/>
          <p:cNvSpPr/>
          <p:nvPr/>
        </p:nvSpPr>
        <p:spPr>
          <a:xfrm>
            <a:off x="320040" y="320040"/>
            <a:ext cx="10058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POET  01</a:t>
            </a:r>
            <a:endParaRPr lang="en-US" sz="1000" dirty="0"/>
          </a:p>
        </p:txBody>
      </p:sp>
      <p:sp>
        <p:nvSpPr>
          <p:cNvPr id="6" name="Text 4"/>
          <p:cNvSpPr/>
          <p:nvPr/>
        </p:nvSpPr>
        <p:spPr>
          <a:xfrm>
            <a:off x="320040" y="868680"/>
            <a:ext cx="5303520" cy="68580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Alfred, Lord Tennyson</a:t>
            </a:r>
            <a:endParaRPr lang="en-US" sz="3600" dirty="0"/>
          </a:p>
        </p:txBody>
      </p:sp>
      <p:sp>
        <p:nvSpPr>
          <p:cNvPr id="7" name="Text 5"/>
          <p:cNvSpPr/>
          <p:nvPr/>
        </p:nvSpPr>
        <p:spPr>
          <a:xfrm>
            <a:off x="320040" y="1572768"/>
            <a:ext cx="5303520" cy="347472"/>
          </a:xfrm>
          <a:prstGeom prst="rect">
            <a:avLst/>
          </a:prstGeom>
          <a:noFill/>
          <a:ln/>
        </p:spPr>
        <p:txBody>
          <a:bodyPr wrap="square" rtlCol="0" anchor="ctr"/>
          <a:lstStyle/>
          <a:p>
            <a:pPr indent="0" marL="0">
              <a:buNone/>
            </a:pPr>
            <a:r>
              <a:rPr lang="en-US" sz="1300" i="1" dirty="0">
                <a:solidFill>
                  <a:srgbClr val="C9A84C"/>
                </a:solidFill>
                <a:latin typeface="Calibri" pitchFamily="34" charset="0"/>
                <a:ea typeface="Calibri" pitchFamily="34" charset="-122"/>
                <a:cs typeface="Calibri" pitchFamily="34" charset="-120"/>
              </a:rPr>
              <a:t>1809 – 1892  |  Poet Laureate of Great Britain</a:t>
            </a:r>
            <a:endParaRPr lang="en-US" sz="1300" dirty="0"/>
          </a:p>
        </p:txBody>
      </p:sp>
      <p:sp>
        <p:nvSpPr>
          <p:cNvPr id="8" name="Shape 6"/>
          <p:cNvSpPr/>
          <p:nvPr/>
        </p:nvSpPr>
        <p:spPr>
          <a:xfrm>
            <a:off x="320040" y="1965960"/>
            <a:ext cx="5303520" cy="36576"/>
          </a:xfrm>
          <a:prstGeom prst="rect">
            <a:avLst/>
          </a:prstGeom>
          <a:solidFill>
            <a:srgbClr val="6B2737"/>
          </a:solidFill>
          <a:ln w="12700">
            <a:solidFill>
              <a:srgbClr val="6B2737"/>
            </a:solidFill>
            <a:prstDash val="solid"/>
          </a:ln>
        </p:spPr>
      </p:sp>
      <p:sp>
        <p:nvSpPr>
          <p:cNvPr id="9" name="Shape 7"/>
          <p:cNvSpPr/>
          <p:nvPr/>
        </p:nvSpPr>
        <p:spPr>
          <a:xfrm>
            <a:off x="320040" y="2139696"/>
            <a:ext cx="384048" cy="384048"/>
          </a:xfrm>
          <a:prstGeom prst="ellipse">
            <a:avLst/>
          </a:prstGeom>
          <a:solidFill>
            <a:srgbClr val="C9A84C"/>
          </a:solidFill>
          <a:ln w="12700">
            <a:solidFill>
              <a:srgbClr val="C9A84C"/>
            </a:solidFill>
            <a:prstDash val="solid"/>
          </a:ln>
        </p:spPr>
      </p:sp>
      <p:sp>
        <p:nvSpPr>
          <p:cNvPr id="10" name="Text 8"/>
          <p:cNvSpPr/>
          <p:nvPr/>
        </p:nvSpPr>
        <p:spPr>
          <a:xfrm>
            <a:off x="320040" y="2139696"/>
            <a:ext cx="384048" cy="384048"/>
          </a:xfrm>
          <a:prstGeom prst="rect">
            <a:avLst/>
          </a:prstGeom>
          <a:noFill/>
          <a:ln/>
        </p:spPr>
        <p:txBody>
          <a:bodyPr wrap="square" lIns="0" tIns="0" rIns="0" bIns="0" rtlCol="0" anchor="ctr"/>
          <a:lstStyle/>
          <a:p>
            <a:pPr algn="ctr" indent="0" marL="0">
              <a:buNone/>
            </a:pPr>
            <a:r>
              <a:rPr lang="en-US" sz="900" b="1" dirty="0">
                <a:solidFill>
                  <a:srgbClr val="1A1A2E"/>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804672" y="2139696"/>
            <a:ext cx="4800600" cy="457200"/>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Cambridge + Arthur Hallam  —  His best friend's death (1833) launched his greatest poetry.</a:t>
            </a:r>
            <a:endParaRPr lang="en-US" sz="1200" dirty="0"/>
          </a:p>
        </p:txBody>
      </p:sp>
      <p:sp>
        <p:nvSpPr>
          <p:cNvPr id="12" name="Shape 10"/>
          <p:cNvSpPr/>
          <p:nvPr/>
        </p:nvSpPr>
        <p:spPr>
          <a:xfrm>
            <a:off x="320040" y="2779776"/>
            <a:ext cx="384048" cy="384048"/>
          </a:xfrm>
          <a:prstGeom prst="ellipse">
            <a:avLst/>
          </a:prstGeom>
          <a:solidFill>
            <a:srgbClr val="C9A84C"/>
          </a:solidFill>
          <a:ln w="12700">
            <a:solidFill>
              <a:srgbClr val="C9A84C"/>
            </a:solidFill>
            <a:prstDash val="solid"/>
          </a:ln>
        </p:spPr>
      </p:sp>
      <p:sp>
        <p:nvSpPr>
          <p:cNvPr id="13" name="Text 11"/>
          <p:cNvSpPr/>
          <p:nvPr/>
        </p:nvSpPr>
        <p:spPr>
          <a:xfrm>
            <a:off x="320040" y="2779776"/>
            <a:ext cx="384048" cy="384048"/>
          </a:xfrm>
          <a:prstGeom prst="rect">
            <a:avLst/>
          </a:prstGeom>
          <a:noFill/>
          <a:ln/>
        </p:spPr>
        <p:txBody>
          <a:bodyPr wrap="square" lIns="0" tIns="0" rIns="0" bIns="0" rtlCol="0" anchor="ctr"/>
          <a:lstStyle/>
          <a:p>
            <a:pPr algn="ctr" indent="0" marL="0">
              <a:buNone/>
            </a:pPr>
            <a:r>
              <a:rPr lang="en-US" sz="900" b="1" dirty="0">
                <a:solidFill>
                  <a:srgbClr val="1A1A2E"/>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804672" y="2779776"/>
            <a:ext cx="4800600" cy="457200"/>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Poet Laureate 1850–1892  —  The longest-serving laureate in British history.</a:t>
            </a:r>
            <a:endParaRPr lang="en-US" sz="1200" dirty="0"/>
          </a:p>
        </p:txBody>
      </p:sp>
      <p:sp>
        <p:nvSpPr>
          <p:cNvPr id="15" name="Shape 13"/>
          <p:cNvSpPr/>
          <p:nvPr/>
        </p:nvSpPr>
        <p:spPr>
          <a:xfrm>
            <a:off x="320040" y="3419856"/>
            <a:ext cx="384048" cy="384048"/>
          </a:xfrm>
          <a:prstGeom prst="ellipse">
            <a:avLst/>
          </a:prstGeom>
          <a:solidFill>
            <a:srgbClr val="C9A84C"/>
          </a:solidFill>
          <a:ln w="12700">
            <a:solidFill>
              <a:srgbClr val="C9A84C"/>
            </a:solidFill>
            <a:prstDash val="solid"/>
          </a:ln>
        </p:spPr>
      </p:sp>
      <p:sp>
        <p:nvSpPr>
          <p:cNvPr id="16" name="Text 14"/>
          <p:cNvSpPr/>
          <p:nvPr/>
        </p:nvSpPr>
        <p:spPr>
          <a:xfrm>
            <a:off x="320040" y="3419856"/>
            <a:ext cx="384048" cy="384048"/>
          </a:xfrm>
          <a:prstGeom prst="rect">
            <a:avLst/>
          </a:prstGeom>
          <a:noFill/>
          <a:ln/>
        </p:spPr>
        <p:txBody>
          <a:bodyPr wrap="square" lIns="0" tIns="0" rIns="0" bIns="0" rtlCol="0" anchor="ctr"/>
          <a:lstStyle/>
          <a:p>
            <a:pPr algn="ctr" indent="0" marL="0">
              <a:buNone/>
            </a:pPr>
            <a:r>
              <a:rPr lang="en-US" sz="900" b="1" dirty="0">
                <a:solidFill>
                  <a:srgbClr val="1A1A2E"/>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804672" y="3419856"/>
            <a:ext cx="4800600" cy="457200"/>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Doubt &amp; Faith  —  Deeply troubled by Darwin and geology, yet couldn't abandon belief.</a:t>
            </a:r>
            <a:endParaRPr lang="en-US" sz="1200" dirty="0"/>
          </a:p>
        </p:txBody>
      </p:sp>
      <p:sp>
        <p:nvSpPr>
          <p:cNvPr id="18" name="Shape 16"/>
          <p:cNvSpPr/>
          <p:nvPr/>
        </p:nvSpPr>
        <p:spPr>
          <a:xfrm>
            <a:off x="320040" y="4059936"/>
            <a:ext cx="384048" cy="384048"/>
          </a:xfrm>
          <a:prstGeom prst="ellipse">
            <a:avLst/>
          </a:prstGeom>
          <a:solidFill>
            <a:srgbClr val="C9A84C"/>
          </a:solidFill>
          <a:ln w="12700">
            <a:solidFill>
              <a:srgbClr val="C9A84C"/>
            </a:solidFill>
            <a:prstDash val="solid"/>
          </a:ln>
        </p:spPr>
      </p:sp>
      <p:sp>
        <p:nvSpPr>
          <p:cNvPr id="19" name="Text 17"/>
          <p:cNvSpPr/>
          <p:nvPr/>
        </p:nvSpPr>
        <p:spPr>
          <a:xfrm>
            <a:off x="320040" y="4059936"/>
            <a:ext cx="384048" cy="384048"/>
          </a:xfrm>
          <a:prstGeom prst="rect">
            <a:avLst/>
          </a:prstGeom>
          <a:noFill/>
          <a:ln/>
        </p:spPr>
        <p:txBody>
          <a:bodyPr wrap="square" lIns="0" tIns="0" rIns="0" bIns="0" rtlCol="0" anchor="ctr"/>
          <a:lstStyle/>
          <a:p>
            <a:pPr algn="ctr" indent="0" marL="0">
              <a:buNone/>
            </a:pPr>
            <a:r>
              <a:rPr lang="en-US" sz="900" b="1" dirty="0">
                <a:solidFill>
                  <a:srgbClr val="1A1A2E"/>
                </a:solidFill>
                <a:latin typeface="Calibri" pitchFamily="34" charset="0"/>
                <a:ea typeface="Calibri" pitchFamily="34" charset="-122"/>
                <a:cs typeface="Calibri" pitchFamily="34" charset="-120"/>
              </a:rPr>
              <a:t>04</a:t>
            </a:r>
            <a:endParaRPr lang="en-US" sz="900" dirty="0"/>
          </a:p>
        </p:txBody>
      </p:sp>
      <p:sp>
        <p:nvSpPr>
          <p:cNvPr id="20" name="Text 18"/>
          <p:cNvSpPr/>
          <p:nvPr/>
        </p:nvSpPr>
        <p:spPr>
          <a:xfrm>
            <a:off x="804672" y="4059936"/>
            <a:ext cx="4800600" cy="457200"/>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Master of Sound  —  "The murmur of innumerable bees" — wrote poetry to be heard aloud.</a:t>
            </a:r>
            <a:endParaRPr lang="en-US" sz="1200" dirty="0"/>
          </a:p>
        </p:txBody>
      </p:sp>
      <p:sp>
        <p:nvSpPr>
          <p:cNvPr id="21" name="Shape 19"/>
          <p:cNvSpPr/>
          <p:nvPr/>
        </p:nvSpPr>
        <p:spPr>
          <a:xfrm>
            <a:off x="5943600" y="0"/>
            <a:ext cx="3200400" cy="5143500"/>
          </a:xfrm>
          <a:prstGeom prst="rect">
            <a:avLst/>
          </a:prstGeom>
          <a:solidFill>
            <a:srgbClr val="6B2737"/>
          </a:solidFill>
          <a:ln w="12700">
            <a:solidFill>
              <a:srgbClr val="6B2737"/>
            </a:solidFill>
            <a:prstDash val="solid"/>
          </a:ln>
        </p:spPr>
      </p:sp>
      <p:sp>
        <p:nvSpPr>
          <p:cNvPr id="22" name="Text 20"/>
          <p:cNvSpPr/>
          <p:nvPr/>
        </p:nvSpPr>
        <p:spPr>
          <a:xfrm>
            <a:off x="6080760" y="365760"/>
            <a:ext cx="914400" cy="914400"/>
          </a:xfrm>
          <a:prstGeom prst="rect">
            <a:avLst/>
          </a:prstGeom>
          <a:noFill/>
          <a:ln/>
        </p:spPr>
        <p:txBody>
          <a:bodyPr wrap="square" lIns="0" tIns="0" rIns="0" bIns="0" rtlCol="0" anchor="ctr"/>
          <a:lstStyle/>
          <a:p>
            <a:pPr indent="0" marL="0">
              <a:buNone/>
            </a:pPr>
            <a:r>
              <a:rPr lang="en-US" sz="7200" b="1" dirty="0">
                <a:solidFill>
                  <a:srgbClr val="C9A84C"/>
                </a:solidFill>
                <a:latin typeface="Cambria" pitchFamily="34" charset="0"/>
                <a:ea typeface="Cambria" pitchFamily="34" charset="-122"/>
                <a:cs typeface="Cambria" pitchFamily="34" charset="-120"/>
              </a:rPr>
              <a:t>“</a:t>
            </a:r>
            <a:endParaRPr lang="en-US" sz="7200" dirty="0"/>
          </a:p>
        </p:txBody>
      </p:sp>
      <p:sp>
        <p:nvSpPr>
          <p:cNvPr id="23" name="Text 21"/>
          <p:cNvSpPr/>
          <p:nvPr/>
        </p:nvSpPr>
        <p:spPr>
          <a:xfrm>
            <a:off x="6080760" y="1143000"/>
            <a:ext cx="2834640" cy="2011680"/>
          </a:xfrm>
          <a:prstGeom prst="rect">
            <a:avLst/>
          </a:prstGeom>
          <a:noFill/>
          <a:ln/>
        </p:spPr>
        <p:txBody>
          <a:bodyPr wrap="square" rtlCol="0" anchor="ctr"/>
          <a:lstStyle/>
          <a:p>
            <a:pPr algn="l" indent="0" marL="0">
              <a:buNone/>
            </a:pPr>
            <a:r>
              <a:rPr lang="en-US" sz="1400" i="1" dirty="0">
                <a:solidFill>
                  <a:srgbClr val="FFFFFF"/>
                </a:solidFill>
                <a:latin typeface="Cambria" pitchFamily="34" charset="0"/>
                <a:ea typeface="Cambria" pitchFamily="34" charset="-122"/>
                <a:cs typeface="Cambria" pitchFamily="34" charset="-120"/>
              </a:rPr>
              <a:t>'Tis not too late to seek</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a newer world.</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Push off, and sitting</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well in order smite</a:t>
            </a:r>
            <a:endParaRPr lang="en-US" sz="1400" dirty="0"/>
          </a:p>
          <a:p>
            <a:pPr algn="l" indent="0" marL="0">
              <a:buNone/>
            </a:pPr>
            <a:r>
              <a:rPr lang="en-US" sz="1400" i="1" dirty="0">
                <a:solidFill>
                  <a:srgbClr val="FFFFFF"/>
                </a:solidFill>
                <a:latin typeface="Cambria" pitchFamily="34" charset="0"/>
                <a:ea typeface="Cambria" pitchFamily="34" charset="-122"/>
                <a:cs typeface="Cambria" pitchFamily="34" charset="-120"/>
              </a:rPr>
              <a:t>the sounding furrows.</a:t>
            </a:r>
            <a:endParaRPr lang="en-US" sz="1400" dirty="0"/>
          </a:p>
        </p:txBody>
      </p:sp>
      <p:sp>
        <p:nvSpPr>
          <p:cNvPr id="24" name="Text 22"/>
          <p:cNvSpPr/>
          <p:nvPr/>
        </p:nvSpPr>
        <p:spPr>
          <a:xfrm>
            <a:off x="6080760" y="3200400"/>
            <a:ext cx="2834640" cy="365760"/>
          </a:xfrm>
          <a:prstGeom prst="rect">
            <a:avLst/>
          </a:prstGeom>
          <a:noFill/>
          <a:ln/>
        </p:spPr>
        <p:txBody>
          <a:bodyPr wrap="square" rtlCol="0" anchor="ctr"/>
          <a:lstStyle/>
          <a:p>
            <a:pPr indent="0" marL="0">
              <a:buNone/>
            </a:pPr>
            <a:r>
              <a:rPr lang="en-US" sz="1200" dirty="0">
                <a:solidFill>
                  <a:srgbClr val="C9A84C"/>
                </a:solidFill>
                <a:latin typeface="Calibri" pitchFamily="34" charset="0"/>
                <a:ea typeface="Calibri" pitchFamily="34" charset="-122"/>
                <a:cs typeface="Calibri" pitchFamily="34" charset="-120"/>
              </a:rPr>
              <a:t>— "Ulysses"</a:t>
            </a:r>
            <a:endParaRPr lang="en-US" sz="1200" dirty="0"/>
          </a:p>
        </p:txBody>
      </p:sp>
      <p:sp>
        <p:nvSpPr>
          <p:cNvPr id="25" name="Text 23"/>
          <p:cNvSpPr/>
          <p:nvPr/>
        </p:nvSpPr>
        <p:spPr>
          <a:xfrm>
            <a:off x="6080760" y="3703320"/>
            <a:ext cx="2834640" cy="32004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 Key Works</a:t>
            </a:r>
            <a:endParaRPr lang="en-US" sz="1200" dirty="0"/>
          </a:p>
        </p:txBody>
      </p:sp>
      <p:sp>
        <p:nvSpPr>
          <p:cNvPr id="26" name="Text 24"/>
          <p:cNvSpPr/>
          <p:nvPr/>
        </p:nvSpPr>
        <p:spPr>
          <a:xfrm>
            <a:off x="6080760" y="4050792"/>
            <a:ext cx="2834640" cy="246888"/>
          </a:xfrm>
          <a:prstGeom prst="rect">
            <a:avLst/>
          </a:prstGeom>
          <a:noFill/>
          <a:ln/>
        </p:spPr>
        <p:txBody>
          <a:bodyPr wrap="square" rtlCol="0" anchor="ctr"/>
          <a:lstStyle/>
          <a:p>
            <a:pPr indent="0" marL="0">
              <a:buNone/>
            </a:pPr>
            <a:r>
              <a:rPr lang="en-US" sz="1050" dirty="0">
                <a:solidFill>
                  <a:srgbClr val="F0DFA0"/>
                </a:solidFill>
                <a:latin typeface="Calibri" pitchFamily="34" charset="0"/>
                <a:ea typeface="Calibri" pitchFamily="34" charset="-122"/>
                <a:cs typeface="Calibri" pitchFamily="34" charset="-120"/>
              </a:rPr>
              <a:t>• In Memoriam A.H.H. (1850)</a:t>
            </a:r>
            <a:endParaRPr lang="en-US" sz="1050" dirty="0"/>
          </a:p>
        </p:txBody>
      </p:sp>
      <p:sp>
        <p:nvSpPr>
          <p:cNvPr id="27" name="Text 25"/>
          <p:cNvSpPr/>
          <p:nvPr/>
        </p:nvSpPr>
        <p:spPr>
          <a:xfrm>
            <a:off x="6080760" y="4297680"/>
            <a:ext cx="2834640" cy="246888"/>
          </a:xfrm>
          <a:prstGeom prst="rect">
            <a:avLst/>
          </a:prstGeom>
          <a:noFill/>
          <a:ln/>
        </p:spPr>
        <p:txBody>
          <a:bodyPr wrap="square" rtlCol="0" anchor="ctr"/>
          <a:lstStyle/>
          <a:p>
            <a:pPr indent="0" marL="0">
              <a:buNone/>
            </a:pPr>
            <a:r>
              <a:rPr lang="en-US" sz="1050" dirty="0">
                <a:solidFill>
                  <a:srgbClr val="F0DFA0"/>
                </a:solidFill>
                <a:latin typeface="Calibri" pitchFamily="34" charset="0"/>
                <a:ea typeface="Calibri" pitchFamily="34" charset="-122"/>
                <a:cs typeface="Calibri" pitchFamily="34" charset="-120"/>
              </a:rPr>
              <a:t>• Ulysses (1842)</a:t>
            </a:r>
            <a:endParaRPr lang="en-US" sz="1050" dirty="0"/>
          </a:p>
        </p:txBody>
      </p:sp>
      <p:sp>
        <p:nvSpPr>
          <p:cNvPr id="28" name="Text 26"/>
          <p:cNvSpPr/>
          <p:nvPr/>
        </p:nvSpPr>
        <p:spPr>
          <a:xfrm>
            <a:off x="6080760" y="4544568"/>
            <a:ext cx="2834640" cy="246888"/>
          </a:xfrm>
          <a:prstGeom prst="rect">
            <a:avLst/>
          </a:prstGeom>
          <a:noFill/>
          <a:ln/>
        </p:spPr>
        <p:txBody>
          <a:bodyPr wrap="square" rtlCol="0" anchor="ctr"/>
          <a:lstStyle/>
          <a:p>
            <a:pPr indent="0" marL="0">
              <a:buNone/>
            </a:pPr>
            <a:r>
              <a:rPr lang="en-US" sz="1050" dirty="0">
                <a:solidFill>
                  <a:srgbClr val="F0DFA0"/>
                </a:solidFill>
                <a:latin typeface="Calibri" pitchFamily="34" charset="0"/>
                <a:ea typeface="Calibri" pitchFamily="34" charset="-122"/>
                <a:cs typeface="Calibri" pitchFamily="34" charset="-120"/>
              </a:rPr>
              <a:t>• The Lady of Shalott (1832)</a:t>
            </a:r>
            <a:endParaRPr lang="en-US" sz="1050" dirty="0"/>
          </a:p>
        </p:txBody>
      </p:sp>
      <p:sp>
        <p:nvSpPr>
          <p:cNvPr id="29" name="Text 27"/>
          <p:cNvSpPr/>
          <p:nvPr/>
        </p:nvSpPr>
        <p:spPr>
          <a:xfrm>
            <a:off x="6080760" y="4791456"/>
            <a:ext cx="2834640" cy="246888"/>
          </a:xfrm>
          <a:prstGeom prst="rect">
            <a:avLst/>
          </a:prstGeom>
          <a:noFill/>
          <a:ln/>
        </p:spPr>
        <p:txBody>
          <a:bodyPr wrap="square" rtlCol="0" anchor="ctr"/>
          <a:lstStyle/>
          <a:p>
            <a:pPr indent="0" marL="0">
              <a:buNone/>
            </a:pPr>
            <a:r>
              <a:rPr lang="en-US" sz="1050" dirty="0">
                <a:solidFill>
                  <a:srgbClr val="F0DFA0"/>
                </a:solidFill>
                <a:latin typeface="Calibri" pitchFamily="34" charset="0"/>
                <a:ea typeface="Calibri" pitchFamily="34" charset="-122"/>
                <a:cs typeface="Calibri" pitchFamily="34" charset="-120"/>
              </a:rPr>
              <a:t>• Idylls of the King (1859–85)</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6"/>
          </a:solidFill>
          <a:ln/>
        </p:spPr>
      </p:sp>
      <p:sp>
        <p:nvSpPr>
          <p:cNvPr id="3" name="Text 1"/>
          <p:cNvSpPr/>
          <p:nvPr/>
        </p:nvSpPr>
        <p:spPr>
          <a:xfrm>
            <a:off x="457200" y="274320"/>
            <a:ext cx="8229600" cy="594360"/>
          </a:xfrm>
          <a:prstGeom prst="rect">
            <a:avLst/>
          </a:prstGeom>
          <a:noFill/>
          <a:ln/>
        </p:spPr>
        <p:txBody>
          <a:bodyPr wrap="square"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Tennyson: Three Works You Need to Know</a:t>
            </a:r>
            <a:endParaRPr lang="en-US" sz="2800" dirty="0"/>
          </a:p>
        </p:txBody>
      </p:sp>
      <p:sp>
        <p:nvSpPr>
          <p:cNvPr id="4" name="Shape 2"/>
          <p:cNvSpPr/>
          <p:nvPr/>
        </p:nvSpPr>
        <p:spPr>
          <a:xfrm>
            <a:off x="457200" y="914400"/>
            <a:ext cx="8229600" cy="36576"/>
          </a:xfrm>
          <a:prstGeom prst="rect">
            <a:avLst/>
          </a:prstGeom>
          <a:solidFill>
            <a:srgbClr val="C9A84C"/>
          </a:solidFill>
          <a:ln w="12700">
            <a:solidFill>
              <a:srgbClr val="C9A84C"/>
            </a:solidFill>
            <a:prstDash val="solid"/>
          </a:ln>
        </p:spPr>
      </p:sp>
      <p:sp>
        <p:nvSpPr>
          <p:cNvPr id="5" name="Shape 3"/>
          <p:cNvSpPr/>
          <p:nvPr/>
        </p:nvSpPr>
        <p:spPr>
          <a:xfrm>
            <a:off x="438912" y="1051560"/>
            <a:ext cx="2724912" cy="3749040"/>
          </a:xfrm>
          <a:prstGeom prst="rect">
            <a:avLst/>
          </a:prstGeom>
          <a:solidFill>
            <a:srgbClr val="FFFFFF"/>
          </a:solidFill>
          <a:ln w="12700">
            <a:solidFill>
              <a:srgbClr val="DDD5C8"/>
            </a:solidFill>
            <a:prstDash val="solid"/>
          </a:ln>
          <a:effectLst>
            <a:outerShdw sx="100000" sy="100000" kx="0" ky="0" algn="bl" rotWithShape="0" blurRad="63500" dist="38100" dir="2700000">
              <a:srgbClr val="BBBBBB">
                <a:alpha val="20000"/>
              </a:srgbClr>
            </a:outerShdw>
          </a:effectLst>
        </p:spPr>
      </p:sp>
      <p:sp>
        <p:nvSpPr>
          <p:cNvPr id="6" name="Shape 4"/>
          <p:cNvSpPr/>
          <p:nvPr/>
        </p:nvSpPr>
        <p:spPr>
          <a:xfrm>
            <a:off x="438912" y="1051560"/>
            <a:ext cx="2724912" cy="347472"/>
          </a:xfrm>
          <a:prstGeom prst="rect">
            <a:avLst/>
          </a:prstGeom>
          <a:solidFill>
            <a:srgbClr val="1A1A2E"/>
          </a:solidFill>
          <a:ln w="12700">
            <a:solidFill>
              <a:srgbClr val="1A1A2E"/>
            </a:solidFill>
            <a:prstDash val="solid"/>
          </a:ln>
        </p:spPr>
      </p:sp>
      <p:sp>
        <p:nvSpPr>
          <p:cNvPr id="7" name="Text 5"/>
          <p:cNvSpPr/>
          <p:nvPr/>
        </p:nvSpPr>
        <p:spPr>
          <a:xfrm>
            <a:off x="438912" y="1051560"/>
            <a:ext cx="272491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ELEGY / DOUBT / FAITH</a:t>
            </a:r>
            <a:endParaRPr lang="en-US" sz="900" dirty="0"/>
          </a:p>
        </p:txBody>
      </p:sp>
      <p:sp>
        <p:nvSpPr>
          <p:cNvPr id="8" name="Text 6"/>
          <p:cNvSpPr/>
          <p:nvPr/>
        </p:nvSpPr>
        <p:spPr>
          <a:xfrm>
            <a:off x="530352" y="1444752"/>
            <a:ext cx="2542032" cy="502920"/>
          </a:xfrm>
          <a:prstGeom prst="rect">
            <a:avLst/>
          </a:prstGeom>
          <a:noFill/>
          <a:ln/>
        </p:spPr>
        <p:txBody>
          <a:bodyPr wrap="square"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In Memoriam A.H.H.  (1850)</a:t>
            </a:r>
            <a:endParaRPr lang="en-US" sz="1300" dirty="0"/>
          </a:p>
        </p:txBody>
      </p:sp>
      <p:sp>
        <p:nvSpPr>
          <p:cNvPr id="9" name="Text 7"/>
          <p:cNvSpPr/>
          <p:nvPr/>
        </p:nvSpPr>
        <p:spPr>
          <a:xfrm>
            <a:off x="530352" y="1947672"/>
            <a:ext cx="2542032" cy="274320"/>
          </a:xfrm>
          <a:prstGeom prst="rect">
            <a:avLst/>
          </a:prstGeom>
          <a:noFill/>
          <a:ln/>
        </p:spPr>
        <p:txBody>
          <a:bodyPr wrap="square" rtlCol="0" anchor="ctr"/>
          <a:lstStyle/>
          <a:p>
            <a:pPr indent="0" marL="0">
              <a:buNone/>
            </a:pPr>
            <a:r>
              <a:rPr lang="en-US" sz="1000" i="1" dirty="0">
                <a:solidFill>
                  <a:srgbClr val="C9A84C"/>
                </a:solidFill>
                <a:latin typeface="Calibri" pitchFamily="34" charset="0"/>
                <a:ea typeface="Calibri" pitchFamily="34" charset="-122"/>
                <a:cs typeface="Calibri" pitchFamily="34" charset="-120"/>
              </a:rPr>
              <a:t>133 cantos · 17 years in the making</a:t>
            </a:r>
            <a:endParaRPr lang="en-US" sz="1000" dirty="0"/>
          </a:p>
        </p:txBody>
      </p:sp>
      <p:sp>
        <p:nvSpPr>
          <p:cNvPr id="10" name="Text 8"/>
          <p:cNvSpPr/>
          <p:nvPr/>
        </p:nvSpPr>
        <p:spPr>
          <a:xfrm>
            <a:off x="530352" y="2267712"/>
            <a:ext cx="2542032" cy="2423160"/>
          </a:xfrm>
          <a:prstGeom prst="rect">
            <a:avLst/>
          </a:prstGeom>
          <a:noFill/>
          <a:ln/>
        </p:spPr>
        <p:txBody>
          <a:bodyPr wrap="square" rtlCol="0" anchor="ctr"/>
          <a:lstStyle/>
          <a:p>
            <a:pPr algn="l" indent="0" marL="0">
              <a:buNone/>
            </a:pPr>
            <a:r>
              <a:rPr lang="en-US" sz="1100" dirty="0">
                <a:solidFill>
                  <a:srgbClr val="7A6B5A"/>
                </a:solidFill>
                <a:latin typeface="Calibri" pitchFamily="34" charset="0"/>
                <a:ea typeface="Calibri" pitchFamily="34" charset="-122"/>
                <a:cs typeface="Calibri" pitchFamily="34" charset="-120"/>
              </a:rPr>
              <a:t>Tennyson's best friend Arthur Hallam died suddenly at 22. This poem is the long, honest record of grief — from raw shock, through doubt about whether God exists, to a fragile acceptance. Think of it as a Victorian grief journal in verse. The famous opening line — "I hold it truth, with him who sings / To one clear harp in divers tones" — captures the whole journey.</a:t>
            </a:r>
            <a:endParaRPr lang="en-US" sz="1100" dirty="0"/>
          </a:p>
        </p:txBody>
      </p:sp>
      <p:sp>
        <p:nvSpPr>
          <p:cNvPr id="11" name="Shape 9"/>
          <p:cNvSpPr/>
          <p:nvPr/>
        </p:nvSpPr>
        <p:spPr>
          <a:xfrm>
            <a:off x="3337560" y="1051560"/>
            <a:ext cx="2724912" cy="3749040"/>
          </a:xfrm>
          <a:prstGeom prst="rect">
            <a:avLst/>
          </a:prstGeom>
          <a:solidFill>
            <a:srgbClr val="FFFFFF"/>
          </a:solidFill>
          <a:ln w="12700">
            <a:solidFill>
              <a:srgbClr val="DDD5C8"/>
            </a:solidFill>
            <a:prstDash val="solid"/>
          </a:ln>
          <a:effectLst>
            <a:outerShdw sx="100000" sy="100000" kx="0" ky="0" algn="bl" rotWithShape="0" blurRad="63500" dist="38100" dir="2700000">
              <a:srgbClr val="BBBBBB">
                <a:alpha val="20000"/>
              </a:srgbClr>
            </a:outerShdw>
          </a:effectLst>
        </p:spPr>
      </p:sp>
      <p:sp>
        <p:nvSpPr>
          <p:cNvPr id="12" name="Shape 10"/>
          <p:cNvSpPr/>
          <p:nvPr/>
        </p:nvSpPr>
        <p:spPr>
          <a:xfrm>
            <a:off x="3337560" y="1051560"/>
            <a:ext cx="2724912" cy="347472"/>
          </a:xfrm>
          <a:prstGeom prst="rect">
            <a:avLst/>
          </a:prstGeom>
          <a:solidFill>
            <a:srgbClr val="6B2737"/>
          </a:solidFill>
          <a:ln w="12700">
            <a:solidFill>
              <a:srgbClr val="6B2737"/>
            </a:solidFill>
            <a:prstDash val="solid"/>
          </a:ln>
        </p:spPr>
      </p:sp>
      <p:sp>
        <p:nvSpPr>
          <p:cNvPr id="13" name="Text 11"/>
          <p:cNvSpPr/>
          <p:nvPr/>
        </p:nvSpPr>
        <p:spPr>
          <a:xfrm>
            <a:off x="3337560" y="1051560"/>
            <a:ext cx="272491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DRAMATIC MONOLOGUE · DUTY</a:t>
            </a:r>
            <a:endParaRPr lang="en-US" sz="900" dirty="0"/>
          </a:p>
        </p:txBody>
      </p:sp>
      <p:sp>
        <p:nvSpPr>
          <p:cNvPr id="14" name="Text 12"/>
          <p:cNvSpPr/>
          <p:nvPr/>
        </p:nvSpPr>
        <p:spPr>
          <a:xfrm>
            <a:off x="3429000" y="1444752"/>
            <a:ext cx="2542032" cy="502920"/>
          </a:xfrm>
          <a:prstGeom prst="rect">
            <a:avLst/>
          </a:prstGeom>
          <a:noFill/>
          <a:ln/>
        </p:spPr>
        <p:txBody>
          <a:bodyPr wrap="square"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Ulysses  (1842)</a:t>
            </a:r>
            <a:endParaRPr lang="en-US" sz="1300" dirty="0"/>
          </a:p>
        </p:txBody>
      </p:sp>
      <p:sp>
        <p:nvSpPr>
          <p:cNvPr id="15" name="Text 13"/>
          <p:cNvSpPr/>
          <p:nvPr/>
        </p:nvSpPr>
        <p:spPr>
          <a:xfrm>
            <a:off x="3429000" y="1947672"/>
            <a:ext cx="2542032" cy="274320"/>
          </a:xfrm>
          <a:prstGeom prst="rect">
            <a:avLst/>
          </a:prstGeom>
          <a:noFill/>
          <a:ln/>
        </p:spPr>
        <p:txBody>
          <a:bodyPr wrap="square" rtlCol="0" anchor="ctr"/>
          <a:lstStyle/>
          <a:p>
            <a:pPr indent="0" marL="0">
              <a:buNone/>
            </a:pPr>
            <a:r>
              <a:rPr lang="en-US" sz="1000" i="1" dirty="0">
                <a:solidFill>
                  <a:srgbClr val="C9A84C"/>
                </a:solidFill>
                <a:latin typeface="Calibri" pitchFamily="34" charset="0"/>
                <a:ea typeface="Calibri" pitchFamily="34" charset="-122"/>
                <a:cs typeface="Calibri" pitchFamily="34" charset="-120"/>
              </a:rPr>
              <a:t>Dramatic monologue · 70 lines</a:t>
            </a:r>
            <a:endParaRPr lang="en-US" sz="1000" dirty="0"/>
          </a:p>
        </p:txBody>
      </p:sp>
      <p:sp>
        <p:nvSpPr>
          <p:cNvPr id="16" name="Text 14"/>
          <p:cNvSpPr/>
          <p:nvPr/>
        </p:nvSpPr>
        <p:spPr>
          <a:xfrm>
            <a:off x="3429000" y="2267712"/>
            <a:ext cx="2542032" cy="2423160"/>
          </a:xfrm>
          <a:prstGeom prst="rect">
            <a:avLst/>
          </a:prstGeom>
          <a:noFill/>
          <a:ln/>
        </p:spPr>
        <p:txBody>
          <a:bodyPr wrap="square" rtlCol="0" anchor="ctr"/>
          <a:lstStyle/>
          <a:p>
            <a:pPr algn="l" indent="0" marL="0">
              <a:buNone/>
            </a:pPr>
            <a:r>
              <a:rPr lang="en-US" sz="1100" dirty="0">
                <a:solidFill>
                  <a:srgbClr val="7A6B5A"/>
                </a:solidFill>
                <a:latin typeface="Calibri" pitchFamily="34" charset="0"/>
                <a:ea typeface="Calibri" pitchFamily="34" charset="-122"/>
                <a:cs typeface="Calibri" pitchFamily="34" charset="-120"/>
              </a:rPr>
              <a:t>An aged Ulysses (Odysseus) refuses to grow old quietly. He addresses his sailors and vows to keep exploring. The poem is about defying limits — but also, quietly, about the restlessness of a man who cannot be at home. Written right after Hallam's death, many read it as Tennyson finding a reason to keep going.</a:t>
            </a:r>
            <a:endParaRPr lang="en-US" sz="1100" dirty="0"/>
          </a:p>
        </p:txBody>
      </p:sp>
      <p:sp>
        <p:nvSpPr>
          <p:cNvPr id="17" name="Shape 15"/>
          <p:cNvSpPr/>
          <p:nvPr/>
        </p:nvSpPr>
        <p:spPr>
          <a:xfrm>
            <a:off x="6236208" y="1051560"/>
            <a:ext cx="2724912" cy="3749040"/>
          </a:xfrm>
          <a:prstGeom prst="rect">
            <a:avLst/>
          </a:prstGeom>
          <a:solidFill>
            <a:srgbClr val="FFFFFF"/>
          </a:solidFill>
          <a:ln w="12700">
            <a:solidFill>
              <a:srgbClr val="DDD5C8"/>
            </a:solidFill>
            <a:prstDash val="solid"/>
          </a:ln>
          <a:effectLst>
            <a:outerShdw sx="100000" sy="100000" kx="0" ky="0" algn="bl" rotWithShape="0" blurRad="63500" dist="38100" dir="2700000">
              <a:srgbClr val="BBBBBB">
                <a:alpha val="20000"/>
              </a:srgbClr>
            </a:outerShdw>
          </a:effectLst>
        </p:spPr>
      </p:sp>
      <p:sp>
        <p:nvSpPr>
          <p:cNvPr id="18" name="Shape 16"/>
          <p:cNvSpPr/>
          <p:nvPr/>
        </p:nvSpPr>
        <p:spPr>
          <a:xfrm>
            <a:off x="6236208" y="1051560"/>
            <a:ext cx="2724912" cy="347472"/>
          </a:xfrm>
          <a:prstGeom prst="rect">
            <a:avLst/>
          </a:prstGeom>
          <a:solidFill>
            <a:srgbClr val="2E3A6E"/>
          </a:solidFill>
          <a:ln w="12700">
            <a:solidFill>
              <a:srgbClr val="2E3A6E"/>
            </a:solidFill>
            <a:prstDash val="solid"/>
          </a:ln>
        </p:spPr>
      </p:sp>
      <p:sp>
        <p:nvSpPr>
          <p:cNvPr id="19" name="Text 17"/>
          <p:cNvSpPr/>
          <p:nvPr/>
        </p:nvSpPr>
        <p:spPr>
          <a:xfrm>
            <a:off x="6236208" y="1051560"/>
            <a:ext cx="272491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NARRATIVE · GENDER · ART</a:t>
            </a:r>
            <a:endParaRPr lang="en-US" sz="900" dirty="0"/>
          </a:p>
        </p:txBody>
      </p:sp>
      <p:sp>
        <p:nvSpPr>
          <p:cNvPr id="20" name="Text 18"/>
          <p:cNvSpPr/>
          <p:nvPr/>
        </p:nvSpPr>
        <p:spPr>
          <a:xfrm>
            <a:off x="6327648" y="1444752"/>
            <a:ext cx="2542032" cy="502920"/>
          </a:xfrm>
          <a:prstGeom prst="rect">
            <a:avLst/>
          </a:prstGeom>
          <a:noFill/>
          <a:ln/>
        </p:spPr>
        <p:txBody>
          <a:bodyPr wrap="square"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The Lady of Shalott  (1832)</a:t>
            </a:r>
            <a:endParaRPr lang="en-US" sz="1300" dirty="0"/>
          </a:p>
        </p:txBody>
      </p:sp>
      <p:sp>
        <p:nvSpPr>
          <p:cNvPr id="21" name="Text 19"/>
          <p:cNvSpPr/>
          <p:nvPr/>
        </p:nvSpPr>
        <p:spPr>
          <a:xfrm>
            <a:off x="6327648" y="1947672"/>
            <a:ext cx="2542032" cy="274320"/>
          </a:xfrm>
          <a:prstGeom prst="rect">
            <a:avLst/>
          </a:prstGeom>
          <a:noFill/>
          <a:ln/>
        </p:spPr>
        <p:txBody>
          <a:bodyPr wrap="square" rtlCol="0" anchor="ctr"/>
          <a:lstStyle/>
          <a:p>
            <a:pPr indent="0" marL="0">
              <a:buNone/>
            </a:pPr>
            <a:r>
              <a:rPr lang="en-US" sz="1000" i="1" dirty="0">
                <a:solidFill>
                  <a:srgbClr val="C9A84C"/>
                </a:solidFill>
                <a:latin typeface="Calibri" pitchFamily="34" charset="0"/>
                <a:ea typeface="Calibri" pitchFamily="34" charset="-122"/>
                <a:cs typeface="Calibri" pitchFamily="34" charset="-120"/>
              </a:rPr>
              <a:t>Narrative poem · Arthurian legend</a:t>
            </a:r>
            <a:endParaRPr lang="en-US" sz="1000" dirty="0"/>
          </a:p>
        </p:txBody>
      </p:sp>
      <p:sp>
        <p:nvSpPr>
          <p:cNvPr id="22" name="Text 20"/>
          <p:cNvSpPr/>
          <p:nvPr/>
        </p:nvSpPr>
        <p:spPr>
          <a:xfrm>
            <a:off x="6327648" y="2267712"/>
            <a:ext cx="2542032" cy="2423160"/>
          </a:xfrm>
          <a:prstGeom prst="rect">
            <a:avLst/>
          </a:prstGeom>
          <a:noFill/>
          <a:ln/>
        </p:spPr>
        <p:txBody>
          <a:bodyPr wrap="square" rtlCol="0" anchor="ctr"/>
          <a:lstStyle/>
          <a:p>
            <a:pPr algn="l" indent="0" marL="0">
              <a:buNone/>
            </a:pPr>
            <a:r>
              <a:rPr lang="en-US" sz="1100" dirty="0">
                <a:solidFill>
                  <a:srgbClr val="7A6B5A"/>
                </a:solidFill>
                <a:latin typeface="Calibri" pitchFamily="34" charset="0"/>
                <a:ea typeface="Calibri" pitchFamily="34" charset="-122"/>
                <a:cs typeface="Calibri" pitchFamily="34" charset="-120"/>
              </a:rPr>
              <a:t>A woman in a tower is under a curse — she can only see the world through a mirror. When she turns to look at Lancelot directly, she dies. The poem is rich with Victorian anxieties about women, art, and the cost of engaging with the real world. Pre-Raphaelite painters loved it — Waterhouse painted it multiple times.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0"/>
            <a:ext cx="164592" cy="5143500"/>
          </a:xfrm>
          <a:prstGeom prst="rect">
            <a:avLst/>
          </a:prstGeom>
          <a:solidFill>
            <a:srgbClr val="6B2737"/>
          </a:solidFill>
          <a:ln w="12700">
            <a:solidFill>
              <a:srgbClr val="6B2737"/>
            </a:solidFill>
            <a:prstDash val="solid"/>
          </a:ln>
        </p:spPr>
      </p:sp>
      <p:sp>
        <p:nvSpPr>
          <p:cNvPr id="4" name="Shape 2"/>
          <p:cNvSpPr/>
          <p:nvPr/>
        </p:nvSpPr>
        <p:spPr>
          <a:xfrm>
            <a:off x="320040" y="320040"/>
            <a:ext cx="1005840" cy="457200"/>
          </a:xfrm>
          <a:prstGeom prst="rect">
            <a:avLst/>
          </a:prstGeom>
          <a:solidFill>
            <a:srgbClr val="C9A84C"/>
          </a:solidFill>
          <a:ln w="12700">
            <a:solidFill>
              <a:srgbClr val="C9A84C"/>
            </a:solidFill>
            <a:prstDash val="solid"/>
          </a:ln>
        </p:spPr>
      </p:sp>
      <p:sp>
        <p:nvSpPr>
          <p:cNvPr id="5" name="Text 3"/>
          <p:cNvSpPr/>
          <p:nvPr/>
        </p:nvSpPr>
        <p:spPr>
          <a:xfrm>
            <a:off x="320040" y="320040"/>
            <a:ext cx="1005840" cy="457200"/>
          </a:xfrm>
          <a:prstGeom prst="rect">
            <a:avLst/>
          </a:prstGeom>
          <a:noFill/>
          <a:ln/>
        </p:spPr>
        <p:txBody>
          <a:bodyPr wrap="square" lIns="0" tIns="0" rIns="0" bIns="0" rtlCol="0" anchor="ctr"/>
          <a:lstStyle/>
          <a:p>
            <a:pPr algn="ctr" indent="0" marL="0">
              <a:buNone/>
            </a:pPr>
            <a:r>
              <a:rPr lang="en-US" sz="1000" b="1" dirty="0">
                <a:solidFill>
                  <a:srgbClr val="1A1A2E"/>
                </a:solidFill>
                <a:latin typeface="Calibri" pitchFamily="34" charset="0"/>
                <a:ea typeface="Calibri" pitchFamily="34" charset="-122"/>
                <a:cs typeface="Calibri" pitchFamily="34" charset="-120"/>
              </a:rPr>
              <a:t>POET  02</a:t>
            </a:r>
            <a:endParaRPr lang="en-US" sz="1000" dirty="0"/>
          </a:p>
        </p:txBody>
      </p:sp>
      <p:sp>
        <p:nvSpPr>
          <p:cNvPr id="6" name="Text 4"/>
          <p:cNvSpPr/>
          <p:nvPr/>
        </p:nvSpPr>
        <p:spPr>
          <a:xfrm>
            <a:off x="320040" y="868680"/>
            <a:ext cx="8503920" cy="68580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Robert Browning</a:t>
            </a:r>
            <a:endParaRPr lang="en-US" sz="3600" dirty="0"/>
          </a:p>
        </p:txBody>
      </p:sp>
      <p:sp>
        <p:nvSpPr>
          <p:cNvPr id="7" name="Text 5"/>
          <p:cNvSpPr/>
          <p:nvPr/>
        </p:nvSpPr>
        <p:spPr>
          <a:xfrm>
            <a:off x="320040" y="1572768"/>
            <a:ext cx="8503920" cy="347472"/>
          </a:xfrm>
          <a:prstGeom prst="rect">
            <a:avLst/>
          </a:prstGeom>
          <a:noFill/>
          <a:ln/>
        </p:spPr>
        <p:txBody>
          <a:bodyPr wrap="square" rtlCol="0" anchor="ctr"/>
          <a:lstStyle/>
          <a:p>
            <a:pPr indent="0" marL="0">
              <a:buNone/>
            </a:pPr>
            <a:r>
              <a:rPr lang="en-US" sz="1300" i="1" dirty="0">
                <a:solidFill>
                  <a:srgbClr val="C9A84C"/>
                </a:solidFill>
                <a:latin typeface="Calibri" pitchFamily="34" charset="0"/>
                <a:ea typeface="Calibri" pitchFamily="34" charset="-122"/>
                <a:cs typeface="Calibri" pitchFamily="34" charset="-120"/>
              </a:rPr>
              <a:t>1812 – 1889  |  Master of the Dramatic Monologue</a:t>
            </a:r>
            <a:endParaRPr lang="en-US" sz="1300" dirty="0"/>
          </a:p>
        </p:txBody>
      </p:sp>
      <p:sp>
        <p:nvSpPr>
          <p:cNvPr id="8" name="Shape 6"/>
          <p:cNvSpPr/>
          <p:nvPr/>
        </p:nvSpPr>
        <p:spPr>
          <a:xfrm>
            <a:off x="320040" y="2011680"/>
            <a:ext cx="4389120" cy="1508760"/>
          </a:xfrm>
          <a:prstGeom prst="rect">
            <a:avLst/>
          </a:prstGeom>
          <a:solidFill>
            <a:srgbClr val="2A1A22"/>
          </a:solidFill>
          <a:ln w="12700">
            <a:solidFill>
              <a:srgbClr val="6B2737"/>
            </a:solidFill>
            <a:prstDash val="solid"/>
          </a:ln>
        </p:spPr>
      </p:sp>
      <p:sp>
        <p:nvSpPr>
          <p:cNvPr id="9" name="Text 7"/>
          <p:cNvSpPr/>
          <p:nvPr/>
        </p:nvSpPr>
        <p:spPr>
          <a:xfrm>
            <a:off x="457200" y="2084832"/>
            <a:ext cx="4114800" cy="347472"/>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  What is a Dramatic Monologue?</a:t>
            </a:r>
            <a:endParaRPr lang="en-US" sz="1300" dirty="0"/>
          </a:p>
        </p:txBody>
      </p:sp>
      <p:sp>
        <p:nvSpPr>
          <p:cNvPr id="10" name="Text 8"/>
          <p:cNvSpPr/>
          <p:nvPr/>
        </p:nvSpPr>
        <p:spPr>
          <a:xfrm>
            <a:off x="457200" y="2450592"/>
            <a:ext cx="4114800" cy="1005840"/>
          </a:xfrm>
          <a:prstGeom prst="rect">
            <a:avLst/>
          </a:prstGeom>
          <a:noFill/>
          <a:ln/>
        </p:spPr>
        <p:txBody>
          <a:bodyPr wrap="square" rtlCol="0" anchor="ctr"/>
          <a:lstStyle/>
          <a:p>
            <a:pPr indent="0" marL="0">
              <a:buNone/>
            </a:pPr>
            <a:r>
              <a:rPr lang="en-US" sz="1150" dirty="0">
                <a:solidFill>
                  <a:srgbClr val="DDDDDD"/>
                </a:solidFill>
                <a:latin typeface="Calibri" pitchFamily="34" charset="0"/>
                <a:ea typeface="Calibri" pitchFamily="34" charset="-122"/>
                <a:cs typeface="Calibri" pitchFamily="34" charset="-120"/>
              </a:rPr>
              <a:t>Think of it like a one-character play: a fictional speaker addresses a silent listener. We only hear one voice — but what they say (and don't say) reveals everything about their character. Browning uses it to get inside morally complex, even villainous minds — without ever endorsing them.</a:t>
            </a:r>
            <a:endParaRPr lang="en-US" sz="1150" dirty="0"/>
          </a:p>
        </p:txBody>
      </p:sp>
      <p:sp>
        <p:nvSpPr>
          <p:cNvPr id="11" name="Text 9"/>
          <p:cNvSpPr/>
          <p:nvPr/>
        </p:nvSpPr>
        <p:spPr>
          <a:xfrm>
            <a:off x="320040" y="3657600"/>
            <a:ext cx="4389120" cy="347472"/>
          </a:xfrm>
          <a:prstGeom prst="rect">
            <a:avLst/>
          </a:prstGeom>
          <a:noFill/>
          <a:ln/>
        </p:spPr>
        <p:txBody>
          <a:bodyPr wrap="square" rtlCol="0" anchor="ctr"/>
          <a:lstStyle/>
          <a:p>
            <a:pPr indent="0" marL="0">
              <a:buNone/>
            </a:pPr>
            <a:r>
              <a:rPr lang="en-US" sz="1300" b="1" dirty="0">
                <a:solidFill>
                  <a:srgbClr val="F0DFA0"/>
                </a:solidFill>
                <a:latin typeface="Cambria" pitchFamily="34" charset="0"/>
                <a:ea typeface="Cambria" pitchFamily="34" charset="-122"/>
                <a:cs typeface="Cambria" pitchFamily="34" charset="-120"/>
              </a:rPr>
              <a:t>Why does Browning love this form?</a:t>
            </a:r>
            <a:endParaRPr lang="en-US" sz="1300" dirty="0"/>
          </a:p>
        </p:txBody>
      </p:sp>
      <p:sp>
        <p:nvSpPr>
          <p:cNvPr id="12" name="Text 10"/>
          <p:cNvSpPr/>
          <p:nvPr/>
        </p:nvSpPr>
        <p:spPr>
          <a:xfrm>
            <a:off x="411480" y="4050792"/>
            <a:ext cx="4297680" cy="274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He can explore psychology without passing moral judgment</a:t>
            </a:r>
            <a:endParaRPr lang="en-US" sz="1150" dirty="0"/>
          </a:p>
        </p:txBody>
      </p:sp>
      <p:sp>
        <p:nvSpPr>
          <p:cNvPr id="13" name="Text 11"/>
          <p:cNvSpPr/>
          <p:nvPr/>
        </p:nvSpPr>
        <p:spPr>
          <a:xfrm>
            <a:off x="411480" y="4361688"/>
            <a:ext cx="4297680" cy="274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The reader becomes the detective — detecting what the speaker hides</a:t>
            </a:r>
            <a:endParaRPr lang="en-US" sz="1150" dirty="0"/>
          </a:p>
        </p:txBody>
      </p:sp>
      <p:sp>
        <p:nvSpPr>
          <p:cNvPr id="14" name="Text 12"/>
          <p:cNvSpPr/>
          <p:nvPr/>
        </p:nvSpPr>
        <p:spPr>
          <a:xfrm>
            <a:off x="411480" y="4672584"/>
            <a:ext cx="4297680" cy="274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It feels modern and theatrical — like prose fiction in verse</a:t>
            </a:r>
            <a:endParaRPr lang="en-US" sz="1150" dirty="0"/>
          </a:p>
        </p:txBody>
      </p:sp>
      <p:sp>
        <p:nvSpPr>
          <p:cNvPr id="15" name="Shape 13"/>
          <p:cNvSpPr/>
          <p:nvPr/>
        </p:nvSpPr>
        <p:spPr>
          <a:xfrm>
            <a:off x="5074920" y="1874520"/>
            <a:ext cx="3794760" cy="3291840"/>
          </a:xfrm>
          <a:prstGeom prst="rect">
            <a:avLst/>
          </a:prstGeom>
          <a:solidFill>
            <a:srgbClr val="6B2737"/>
          </a:solidFill>
          <a:ln w="12700">
            <a:solidFill>
              <a:srgbClr val="6B2737"/>
            </a:solidFill>
            <a:prstDash val="solid"/>
          </a:ln>
        </p:spPr>
      </p:sp>
      <p:sp>
        <p:nvSpPr>
          <p:cNvPr id="16" name="Text 14"/>
          <p:cNvSpPr/>
          <p:nvPr/>
        </p:nvSpPr>
        <p:spPr>
          <a:xfrm>
            <a:off x="5212080" y="2011680"/>
            <a:ext cx="3520440" cy="41148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My Last Duchess  (1842)</a:t>
            </a:r>
            <a:endParaRPr lang="en-US" sz="1500" dirty="0"/>
          </a:p>
        </p:txBody>
      </p:sp>
      <p:sp>
        <p:nvSpPr>
          <p:cNvPr id="17" name="Text 15"/>
          <p:cNvSpPr/>
          <p:nvPr/>
        </p:nvSpPr>
        <p:spPr>
          <a:xfrm>
            <a:off x="5212080" y="2468880"/>
            <a:ext cx="3520440" cy="868680"/>
          </a:xfrm>
          <a:prstGeom prst="rect">
            <a:avLst/>
          </a:prstGeom>
          <a:noFill/>
          <a:ln/>
        </p:spPr>
        <p:txBody>
          <a:bodyPr wrap="square" rtlCol="0" anchor="ctr"/>
          <a:lstStyle/>
          <a:p>
            <a:pPr indent="0" marL="0">
              <a:buNone/>
            </a:pPr>
            <a:r>
              <a:rPr lang="en-US" sz="1150" dirty="0">
                <a:solidFill>
                  <a:srgbClr val="F0DFA0"/>
                </a:solidFill>
                <a:latin typeface="Calibri" pitchFamily="34" charset="0"/>
                <a:ea typeface="Calibri" pitchFamily="34" charset="-122"/>
                <a:cs typeface="Calibri" pitchFamily="34" charset="-120"/>
              </a:rPr>
              <a:t>A Renaissance duke shows an envoy a portrait of his dead wife. In 56 lines, he reveals himself to be a jealous murderer — without ever quite saying so.</a:t>
            </a:r>
            <a:endParaRPr lang="en-US" sz="1150" dirty="0"/>
          </a:p>
        </p:txBody>
      </p:sp>
      <p:sp>
        <p:nvSpPr>
          <p:cNvPr id="18" name="Text 16"/>
          <p:cNvSpPr/>
          <p:nvPr/>
        </p:nvSpPr>
        <p:spPr>
          <a:xfrm>
            <a:off x="5212080" y="3429000"/>
            <a:ext cx="3520440" cy="1005840"/>
          </a:xfrm>
          <a:prstGeom prst="rect">
            <a:avLst/>
          </a:prstGeom>
          <a:noFill/>
          <a:ln/>
        </p:spPr>
        <p:txBody>
          <a:bodyPr wrap="square" rtlCol="0" anchor="ctr"/>
          <a:lstStyle/>
          <a:p>
            <a:pPr indent="0" marL="0">
              <a:buNone/>
            </a:pPr>
            <a:r>
              <a:rPr lang="en-US" sz="1200" i="1" dirty="0">
                <a:solidFill>
                  <a:srgbClr val="FFFFFF"/>
                </a:solidFill>
                <a:latin typeface="Cambria" pitchFamily="34" charset="0"/>
                <a:ea typeface="Cambria" pitchFamily="34" charset="-122"/>
                <a:cs typeface="Cambria" pitchFamily="34" charset="-120"/>
              </a:rPr>
              <a:t>“She had / A heart — how shall I say? — too soon made glad,</a:t>
            </a:r>
            <a:endParaRPr lang="en-US" sz="1200" dirty="0"/>
          </a:p>
          <a:p>
            <a:pPr indent="0" marL="0">
              <a:buNone/>
            </a:pPr>
            <a:r>
              <a:rPr lang="en-US" sz="1200" i="1" dirty="0">
                <a:solidFill>
                  <a:srgbClr val="FFFFFF"/>
                </a:solidFill>
                <a:latin typeface="Cambria" pitchFamily="34" charset="0"/>
                <a:ea typeface="Cambria" pitchFamily="34" charset="-122"/>
                <a:cs typeface="Cambria" pitchFamily="34" charset="-120"/>
              </a:rPr>
              <a:t>Too easily impressed; she liked whate'er</a:t>
            </a:r>
            <a:endParaRPr lang="en-US" sz="1200" dirty="0"/>
          </a:p>
          <a:p>
            <a:pPr indent="0" marL="0">
              <a:buNone/>
            </a:pPr>
            <a:r>
              <a:rPr lang="en-US" sz="1200" i="1" dirty="0">
                <a:solidFill>
                  <a:srgbClr val="FFFFFF"/>
                </a:solidFill>
                <a:latin typeface="Cambria" pitchFamily="34" charset="0"/>
                <a:ea typeface="Cambria" pitchFamily="34" charset="-122"/>
                <a:cs typeface="Cambria" pitchFamily="34" charset="-120"/>
              </a:rPr>
              <a:t>She looked on, and her looks went everywhere.”</a:t>
            </a:r>
            <a:endParaRPr lang="en-US" sz="1200" dirty="0"/>
          </a:p>
        </p:txBody>
      </p:sp>
      <p:sp>
        <p:nvSpPr>
          <p:cNvPr id="19" name="Text 17"/>
          <p:cNvSpPr/>
          <p:nvPr/>
        </p:nvSpPr>
        <p:spPr>
          <a:xfrm>
            <a:off x="5212080" y="4480560"/>
            <a:ext cx="3520440" cy="502920"/>
          </a:xfrm>
          <a:prstGeom prst="rect">
            <a:avLst/>
          </a:prstGeom>
          <a:noFill/>
          <a:ln/>
        </p:spPr>
        <p:txBody>
          <a:bodyPr wrap="square" rtlCol="0" anchor="ctr"/>
          <a:lstStyle/>
          <a:p>
            <a:pPr indent="0" marL="0">
              <a:buNone/>
            </a:pPr>
            <a:r>
              <a:rPr lang="en-US" sz="1050" i="1" dirty="0">
                <a:solidFill>
                  <a:srgbClr val="FFDDCC"/>
                </a:solidFill>
                <a:latin typeface="Calibri" pitchFamily="34" charset="0"/>
                <a:ea typeface="Calibri" pitchFamily="34" charset="-122"/>
                <a:cs typeface="Calibri" pitchFamily="34" charset="-120"/>
              </a:rPr>
              <a:t>The duke is bragging about controlling her — and about what he did when he couldn't.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6"/>
          </a:solidFill>
          <a:ln/>
        </p:spPr>
      </p:sp>
      <p:sp>
        <p:nvSpPr>
          <p:cNvPr id="3" name="Text 1"/>
          <p:cNvSpPr/>
          <p:nvPr/>
        </p:nvSpPr>
        <p:spPr>
          <a:xfrm>
            <a:off x="457200" y="256032"/>
            <a:ext cx="8229600" cy="594360"/>
          </a:xfrm>
          <a:prstGeom prst="rect">
            <a:avLst/>
          </a:prstGeom>
          <a:noFill/>
          <a:ln/>
        </p:spPr>
        <p:txBody>
          <a:bodyPr wrap="square"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Browning's Gallery of Voices — &amp; Elizabeth Barrett Browning</a:t>
            </a:r>
            <a:endParaRPr lang="en-US" sz="2400" dirty="0"/>
          </a:p>
        </p:txBody>
      </p:sp>
      <p:sp>
        <p:nvSpPr>
          <p:cNvPr id="4" name="Shape 2"/>
          <p:cNvSpPr/>
          <p:nvPr/>
        </p:nvSpPr>
        <p:spPr>
          <a:xfrm>
            <a:off x="411480" y="960120"/>
            <a:ext cx="4754880" cy="365760"/>
          </a:xfrm>
          <a:prstGeom prst="rect">
            <a:avLst/>
          </a:prstGeom>
          <a:solidFill>
            <a:srgbClr val="1A1A2E"/>
          </a:solidFill>
          <a:ln w="12700">
            <a:solidFill>
              <a:srgbClr val="1A1A2E"/>
            </a:solidFill>
            <a:prstDash val="solid"/>
          </a:ln>
        </p:spPr>
      </p:sp>
      <p:sp>
        <p:nvSpPr>
          <p:cNvPr id="5" name="Text 3"/>
          <p:cNvSpPr/>
          <p:nvPr/>
        </p:nvSpPr>
        <p:spPr>
          <a:xfrm>
            <a:off x="411480" y="960120"/>
            <a:ext cx="4754880" cy="365760"/>
          </a:xfrm>
          <a:prstGeom prst="rect">
            <a:avLst/>
          </a:prstGeom>
          <a:noFill/>
          <a:ln/>
        </p:spPr>
        <p:txBody>
          <a:bodyPr wrap="square" lIns="0" tIns="0" rIns="0" bIns="0" rtlCol="0" anchor="ctr"/>
          <a:lstStyle/>
          <a:p>
            <a:pPr algn="ctr" indent="0" marL="0">
              <a:buNone/>
            </a:pPr>
            <a:r>
              <a:rPr lang="en-US" sz="1300" b="1" dirty="0">
                <a:solidFill>
                  <a:srgbClr val="C9A84C"/>
                </a:solidFill>
                <a:latin typeface="Cambria" pitchFamily="34" charset="0"/>
                <a:ea typeface="Cambria" pitchFamily="34" charset="-122"/>
                <a:cs typeface="Cambria" pitchFamily="34" charset="-120"/>
              </a:rPr>
              <a:t>Robert Browning</a:t>
            </a:r>
            <a:endParaRPr lang="en-US" sz="1300" dirty="0"/>
          </a:p>
        </p:txBody>
      </p:sp>
      <p:sp>
        <p:nvSpPr>
          <p:cNvPr id="6" name="Shape 4"/>
          <p:cNvSpPr/>
          <p:nvPr/>
        </p:nvSpPr>
        <p:spPr>
          <a:xfrm>
            <a:off x="411480" y="1371600"/>
            <a:ext cx="4754880" cy="932688"/>
          </a:xfrm>
          <a:prstGeom prst="rect">
            <a:avLst/>
          </a:prstGeom>
          <a:solidFill>
            <a:srgbClr val="FFFFFF"/>
          </a:solidFill>
          <a:ln w="12700">
            <a:solidFill>
              <a:srgbClr val="DDD5C8"/>
            </a:solidFill>
            <a:prstDash val="solid"/>
          </a:ln>
        </p:spPr>
      </p:sp>
      <p:sp>
        <p:nvSpPr>
          <p:cNvPr id="7" name="Text 5"/>
          <p:cNvSpPr/>
          <p:nvPr/>
        </p:nvSpPr>
        <p:spPr>
          <a:xfrm>
            <a:off x="548640" y="1417320"/>
            <a:ext cx="4480560" cy="292608"/>
          </a:xfrm>
          <a:prstGeom prst="rect">
            <a:avLst/>
          </a:prstGeom>
          <a:noFill/>
          <a:ln/>
        </p:spPr>
        <p:txBody>
          <a:bodyPr wrap="square" rtlCol="0" anchor="ctr"/>
          <a:lstStyle/>
          <a:p>
            <a:pPr indent="0" marL="0">
              <a:buNone/>
            </a:pPr>
            <a:r>
              <a:rPr lang="en-US" sz="1250" b="1" dirty="0">
                <a:solidFill>
                  <a:srgbClr val="6B2737"/>
                </a:solidFill>
                <a:latin typeface="Cambria" pitchFamily="34" charset="0"/>
                <a:ea typeface="Cambria" pitchFamily="34" charset="-122"/>
                <a:cs typeface="Cambria" pitchFamily="34" charset="-120"/>
              </a:rPr>
              <a:t>Fra Lippo Lippi  (1855)</a:t>
            </a:r>
            <a:endParaRPr lang="en-US" sz="1250" dirty="0"/>
          </a:p>
        </p:txBody>
      </p:sp>
      <p:sp>
        <p:nvSpPr>
          <p:cNvPr id="8" name="Text 6"/>
          <p:cNvSpPr/>
          <p:nvPr/>
        </p:nvSpPr>
        <p:spPr>
          <a:xfrm>
            <a:off x="548640" y="1709928"/>
            <a:ext cx="4480560" cy="530352"/>
          </a:xfrm>
          <a:prstGeom prst="rect">
            <a:avLst/>
          </a:prstGeom>
          <a:noFill/>
          <a:ln/>
        </p:spPr>
        <p:txBody>
          <a:bodyPr wrap="square" rtlCol="0" anchor="ctr"/>
          <a:lstStyle/>
          <a:p>
            <a:pPr indent="0" marL="0">
              <a:buNone/>
            </a:pPr>
            <a:r>
              <a:rPr lang="en-US" sz="1100" dirty="0">
                <a:solidFill>
                  <a:srgbClr val="7A6B5A"/>
                </a:solidFill>
                <a:latin typeface="Calibri" pitchFamily="34" charset="0"/>
                <a:ea typeface="Calibri" pitchFamily="34" charset="-122"/>
                <a:cs typeface="Calibri" pitchFamily="34" charset="-120"/>
              </a:rPr>
              <a:t>A Renaissance monk-painter caught sneaking out at night makes a case for realistic art over idealized religious art. Browning uses him to argue for earthly, sensory experience as worthy of poetry.</a:t>
            </a:r>
            <a:endParaRPr lang="en-US" sz="1100" dirty="0"/>
          </a:p>
        </p:txBody>
      </p:sp>
      <p:sp>
        <p:nvSpPr>
          <p:cNvPr id="9" name="Shape 7"/>
          <p:cNvSpPr/>
          <p:nvPr/>
        </p:nvSpPr>
        <p:spPr>
          <a:xfrm>
            <a:off x="411480" y="2395728"/>
            <a:ext cx="4754880" cy="932688"/>
          </a:xfrm>
          <a:prstGeom prst="rect">
            <a:avLst/>
          </a:prstGeom>
          <a:solidFill>
            <a:srgbClr val="FFFFFF"/>
          </a:solidFill>
          <a:ln w="12700">
            <a:solidFill>
              <a:srgbClr val="DDD5C8"/>
            </a:solidFill>
            <a:prstDash val="solid"/>
          </a:ln>
        </p:spPr>
      </p:sp>
      <p:sp>
        <p:nvSpPr>
          <p:cNvPr id="10" name="Text 8"/>
          <p:cNvSpPr/>
          <p:nvPr/>
        </p:nvSpPr>
        <p:spPr>
          <a:xfrm>
            <a:off x="548640" y="2441448"/>
            <a:ext cx="4480560" cy="292608"/>
          </a:xfrm>
          <a:prstGeom prst="rect">
            <a:avLst/>
          </a:prstGeom>
          <a:noFill/>
          <a:ln/>
        </p:spPr>
        <p:txBody>
          <a:bodyPr wrap="square" rtlCol="0" anchor="ctr"/>
          <a:lstStyle/>
          <a:p>
            <a:pPr indent="0" marL="0">
              <a:buNone/>
            </a:pPr>
            <a:r>
              <a:rPr lang="en-US" sz="1250" b="1" dirty="0">
                <a:solidFill>
                  <a:srgbClr val="6B2737"/>
                </a:solidFill>
                <a:latin typeface="Cambria" pitchFamily="34" charset="0"/>
                <a:ea typeface="Cambria" pitchFamily="34" charset="-122"/>
                <a:cs typeface="Cambria" pitchFamily="34" charset="-120"/>
              </a:rPr>
              <a:t>Porphyria's Lover</a:t>
            </a:r>
            <a:endParaRPr lang="en-US" sz="1250" dirty="0"/>
          </a:p>
        </p:txBody>
      </p:sp>
      <p:sp>
        <p:nvSpPr>
          <p:cNvPr id="11" name="Text 9"/>
          <p:cNvSpPr/>
          <p:nvPr/>
        </p:nvSpPr>
        <p:spPr>
          <a:xfrm>
            <a:off x="548640" y="2734056"/>
            <a:ext cx="4480560" cy="530352"/>
          </a:xfrm>
          <a:prstGeom prst="rect">
            <a:avLst/>
          </a:prstGeom>
          <a:noFill/>
          <a:ln/>
        </p:spPr>
        <p:txBody>
          <a:bodyPr wrap="square" rtlCol="0" anchor="ctr"/>
          <a:lstStyle/>
          <a:p>
            <a:pPr indent="0" marL="0">
              <a:buNone/>
            </a:pPr>
            <a:r>
              <a:rPr lang="en-US" sz="1100" dirty="0">
                <a:solidFill>
                  <a:srgbClr val="7A6B5A"/>
                </a:solidFill>
                <a:latin typeface="Calibri" pitchFamily="34" charset="0"/>
                <a:ea typeface="Calibri" pitchFamily="34" charset="-122"/>
                <a:cs typeface="Calibri" pitchFamily="34" charset="-120"/>
              </a:rPr>
              <a:t>A man strangles the woman he loves to freeze the perfect moment. Deeply disturbing — and a masterclass in the dramatic monologue. The speaker sees nothing wrong with what he's done.</a:t>
            </a:r>
            <a:endParaRPr lang="en-US" sz="1100" dirty="0"/>
          </a:p>
        </p:txBody>
      </p:sp>
      <p:sp>
        <p:nvSpPr>
          <p:cNvPr id="12" name="Shape 10"/>
          <p:cNvSpPr/>
          <p:nvPr/>
        </p:nvSpPr>
        <p:spPr>
          <a:xfrm>
            <a:off x="411480" y="3419856"/>
            <a:ext cx="4754880" cy="932688"/>
          </a:xfrm>
          <a:prstGeom prst="rect">
            <a:avLst/>
          </a:prstGeom>
          <a:solidFill>
            <a:srgbClr val="FFFFFF"/>
          </a:solidFill>
          <a:ln w="12700">
            <a:solidFill>
              <a:srgbClr val="DDD5C8"/>
            </a:solidFill>
            <a:prstDash val="solid"/>
          </a:ln>
        </p:spPr>
      </p:sp>
      <p:sp>
        <p:nvSpPr>
          <p:cNvPr id="13" name="Text 11"/>
          <p:cNvSpPr/>
          <p:nvPr/>
        </p:nvSpPr>
        <p:spPr>
          <a:xfrm>
            <a:off x="548640" y="3465576"/>
            <a:ext cx="4480560" cy="292608"/>
          </a:xfrm>
          <a:prstGeom prst="rect">
            <a:avLst/>
          </a:prstGeom>
          <a:noFill/>
          <a:ln/>
        </p:spPr>
        <p:txBody>
          <a:bodyPr wrap="square" rtlCol="0" anchor="ctr"/>
          <a:lstStyle/>
          <a:p>
            <a:pPr indent="0" marL="0">
              <a:buNone/>
            </a:pPr>
            <a:r>
              <a:rPr lang="en-US" sz="1250" b="1" dirty="0">
                <a:solidFill>
                  <a:srgbClr val="6B2737"/>
                </a:solidFill>
                <a:latin typeface="Cambria" pitchFamily="34" charset="0"/>
                <a:ea typeface="Cambria" pitchFamily="34" charset="-122"/>
                <a:cs typeface="Cambria" pitchFamily="34" charset="-120"/>
              </a:rPr>
              <a:t>The Ring and the Book  (1868)</a:t>
            </a:r>
            <a:endParaRPr lang="en-US" sz="1250" dirty="0"/>
          </a:p>
        </p:txBody>
      </p:sp>
      <p:sp>
        <p:nvSpPr>
          <p:cNvPr id="14" name="Text 12"/>
          <p:cNvSpPr/>
          <p:nvPr/>
        </p:nvSpPr>
        <p:spPr>
          <a:xfrm>
            <a:off x="548640" y="3758184"/>
            <a:ext cx="4480560" cy="530352"/>
          </a:xfrm>
          <a:prstGeom prst="rect">
            <a:avLst/>
          </a:prstGeom>
          <a:noFill/>
          <a:ln/>
        </p:spPr>
        <p:txBody>
          <a:bodyPr wrap="square" rtlCol="0" anchor="ctr"/>
          <a:lstStyle/>
          <a:p>
            <a:pPr indent="0" marL="0">
              <a:buNone/>
            </a:pPr>
            <a:r>
              <a:rPr lang="en-US" sz="1100" dirty="0">
                <a:solidFill>
                  <a:srgbClr val="7A6B5A"/>
                </a:solidFill>
                <a:latin typeface="Calibri" pitchFamily="34" charset="0"/>
                <a:ea typeface="Calibri" pitchFamily="34" charset="-122"/>
                <a:cs typeface="Calibri" pitchFamily="34" charset="-120"/>
              </a:rPr>
              <a:t>A true 17th-century Roman murder case told through 12 dramatic monologues — the same event seen through 12 different voices. Think Rashomon, but in verse.</a:t>
            </a:r>
            <a:endParaRPr lang="en-US" sz="1100" dirty="0"/>
          </a:p>
        </p:txBody>
      </p:sp>
      <p:sp>
        <p:nvSpPr>
          <p:cNvPr id="15" name="Shape 13"/>
          <p:cNvSpPr/>
          <p:nvPr/>
        </p:nvSpPr>
        <p:spPr>
          <a:xfrm>
            <a:off x="5349240" y="960120"/>
            <a:ext cx="3383280" cy="4160520"/>
          </a:xfrm>
          <a:prstGeom prst="rect">
            <a:avLst/>
          </a:prstGeom>
          <a:solidFill>
            <a:srgbClr val="1A1A2E"/>
          </a:solidFill>
          <a:ln w="12700">
            <a:solidFill>
              <a:srgbClr val="1A1A2E"/>
            </a:solidFill>
            <a:prstDash val="solid"/>
          </a:ln>
        </p:spPr>
      </p:sp>
      <p:sp>
        <p:nvSpPr>
          <p:cNvPr id="16" name="Shape 14"/>
          <p:cNvSpPr/>
          <p:nvPr/>
        </p:nvSpPr>
        <p:spPr>
          <a:xfrm>
            <a:off x="5349240" y="960120"/>
            <a:ext cx="3383280" cy="365760"/>
          </a:xfrm>
          <a:prstGeom prst="rect">
            <a:avLst/>
          </a:prstGeom>
          <a:solidFill>
            <a:srgbClr val="6B2737"/>
          </a:solidFill>
          <a:ln w="12700">
            <a:solidFill>
              <a:srgbClr val="6B2737"/>
            </a:solidFill>
            <a:prstDash val="solid"/>
          </a:ln>
        </p:spPr>
      </p:sp>
      <p:sp>
        <p:nvSpPr>
          <p:cNvPr id="17" name="Text 15"/>
          <p:cNvSpPr/>
          <p:nvPr/>
        </p:nvSpPr>
        <p:spPr>
          <a:xfrm>
            <a:off x="5349240" y="960120"/>
            <a:ext cx="33832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Elizabeth Barrett Browning</a:t>
            </a:r>
            <a:endParaRPr lang="en-US" sz="1100" dirty="0"/>
          </a:p>
        </p:txBody>
      </p:sp>
      <p:sp>
        <p:nvSpPr>
          <p:cNvPr id="18" name="Text 16"/>
          <p:cNvSpPr/>
          <p:nvPr/>
        </p:nvSpPr>
        <p:spPr>
          <a:xfrm>
            <a:off x="5440680" y="1371600"/>
            <a:ext cx="3200400" cy="292608"/>
          </a:xfrm>
          <a:prstGeom prst="rect">
            <a:avLst/>
          </a:prstGeom>
          <a:noFill/>
          <a:ln/>
        </p:spPr>
        <p:txBody>
          <a:bodyPr wrap="square" rtlCol="0" anchor="ctr"/>
          <a:lstStyle/>
          <a:p>
            <a:pPr indent="0" marL="0">
              <a:buNone/>
            </a:pPr>
            <a:r>
              <a:rPr lang="en-US" sz="1100" i="1" dirty="0">
                <a:solidFill>
                  <a:srgbClr val="C9A84C"/>
                </a:solidFill>
                <a:latin typeface="Calibri" pitchFamily="34" charset="0"/>
                <a:ea typeface="Calibri" pitchFamily="34" charset="-122"/>
                <a:cs typeface="Calibri" pitchFamily="34" charset="-120"/>
              </a:rPr>
              <a:t>1806 – 1861</a:t>
            </a:r>
            <a:endParaRPr lang="en-US" sz="1100" dirty="0"/>
          </a:p>
        </p:txBody>
      </p:sp>
      <p:sp>
        <p:nvSpPr>
          <p:cNvPr id="19" name="Text 17"/>
          <p:cNvSpPr/>
          <p:nvPr/>
        </p:nvSpPr>
        <p:spPr>
          <a:xfrm>
            <a:off x="5440680" y="1691640"/>
            <a:ext cx="3200400" cy="914400"/>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The more famous poet of the two in her lifetime. She and Robert conducted a secret courtship in letters — she was an invalid confined to her room; he fell for her poetry first.</a:t>
            </a:r>
            <a:endParaRPr lang="en-US" sz="1100" dirty="0"/>
          </a:p>
        </p:txBody>
      </p:sp>
      <p:sp>
        <p:nvSpPr>
          <p:cNvPr id="20" name="Text 18"/>
          <p:cNvSpPr/>
          <p:nvPr/>
        </p:nvSpPr>
        <p:spPr>
          <a:xfrm>
            <a:off x="5440680" y="2697480"/>
            <a:ext cx="3200400" cy="68580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"How do I love thee?</a:t>
            </a:r>
            <a:endParaRPr lang="en-US" sz="1300" dirty="0"/>
          </a:p>
          <a:p>
            <a:pPr indent="0" marL="0">
              <a:buNone/>
            </a:pPr>
            <a:r>
              <a:rPr lang="en-US" sz="1300" i="1" dirty="0">
                <a:solidFill>
                  <a:srgbClr val="FFFFFF"/>
                </a:solidFill>
                <a:latin typeface="Cambria" pitchFamily="34" charset="0"/>
                <a:ea typeface="Cambria" pitchFamily="34" charset="-122"/>
                <a:cs typeface="Cambria" pitchFamily="34" charset="-120"/>
              </a:rPr>
              <a:t>Let me count the ways."</a:t>
            </a:r>
            <a:endParaRPr lang="en-US" sz="1300" dirty="0"/>
          </a:p>
        </p:txBody>
      </p:sp>
      <p:sp>
        <p:nvSpPr>
          <p:cNvPr id="21" name="Text 19"/>
          <p:cNvSpPr/>
          <p:nvPr/>
        </p:nvSpPr>
        <p:spPr>
          <a:xfrm>
            <a:off x="5440680" y="3429000"/>
            <a:ext cx="3200400" cy="1463040"/>
          </a:xfrm>
          <a:prstGeom prst="rect">
            <a:avLst/>
          </a:prstGeom>
          <a:noFill/>
          <a:ln/>
        </p:spPr>
        <p:txBody>
          <a:bodyPr wrap="square" rtlCol="0" anchor="ctr"/>
          <a:lstStyle/>
          <a:p>
            <a:pPr indent="0" marL="0">
              <a:buNone/>
            </a:pPr>
            <a:r>
              <a:rPr lang="en-US" sz="1050" dirty="0">
                <a:solidFill>
                  <a:srgbClr val="F0DFA0"/>
                </a:solidFill>
                <a:latin typeface="Calibri" pitchFamily="34" charset="0"/>
                <a:ea typeface="Calibri" pitchFamily="34" charset="-122"/>
                <a:cs typeface="Calibri" pitchFamily="34" charset="-120"/>
              </a:rPr>
              <a:t>Sonnets from the Portuguese (1850) — 44 love sonnets. Aurora Leigh (1856) — a novel-in-verse championing women's right to be artists. The Cry of the Children (1843) — on child labour in mines.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3A6E"/>
          </a:solidFill>
          <a:ln/>
        </p:spPr>
      </p:sp>
      <p:sp>
        <p:nvSpPr>
          <p:cNvPr id="3" name="Shape 1"/>
          <p:cNvSpPr/>
          <p:nvPr/>
        </p:nvSpPr>
        <p:spPr>
          <a:xfrm>
            <a:off x="0" y="0"/>
            <a:ext cx="164592" cy="5143500"/>
          </a:xfrm>
          <a:prstGeom prst="rect">
            <a:avLst/>
          </a:prstGeom>
          <a:solidFill>
            <a:srgbClr val="C9A84C"/>
          </a:solidFill>
          <a:ln w="12700">
            <a:solidFill>
              <a:srgbClr val="C9A84C"/>
            </a:solidFill>
            <a:prstDash val="solid"/>
          </a:ln>
        </p:spPr>
      </p:sp>
      <p:sp>
        <p:nvSpPr>
          <p:cNvPr id="4" name="Shape 2"/>
          <p:cNvSpPr/>
          <p:nvPr/>
        </p:nvSpPr>
        <p:spPr>
          <a:xfrm>
            <a:off x="320040" y="320040"/>
            <a:ext cx="1005840" cy="457200"/>
          </a:xfrm>
          <a:prstGeom prst="rect">
            <a:avLst/>
          </a:prstGeom>
          <a:solidFill>
            <a:srgbClr val="C9A84C"/>
          </a:solidFill>
          <a:ln w="12700">
            <a:solidFill>
              <a:srgbClr val="C9A84C"/>
            </a:solidFill>
            <a:prstDash val="solid"/>
          </a:ln>
        </p:spPr>
      </p:sp>
      <p:sp>
        <p:nvSpPr>
          <p:cNvPr id="5" name="Text 3"/>
          <p:cNvSpPr/>
          <p:nvPr/>
        </p:nvSpPr>
        <p:spPr>
          <a:xfrm>
            <a:off x="320040" y="320040"/>
            <a:ext cx="1005840" cy="457200"/>
          </a:xfrm>
          <a:prstGeom prst="rect">
            <a:avLst/>
          </a:prstGeom>
          <a:noFill/>
          <a:ln/>
        </p:spPr>
        <p:txBody>
          <a:bodyPr wrap="square" lIns="0" tIns="0" rIns="0" bIns="0" rtlCol="0" anchor="ctr"/>
          <a:lstStyle/>
          <a:p>
            <a:pPr algn="ctr" indent="0" marL="0">
              <a:buNone/>
            </a:pPr>
            <a:r>
              <a:rPr lang="en-US" sz="1000" b="1" dirty="0">
                <a:solidFill>
                  <a:srgbClr val="1A1A2E"/>
                </a:solidFill>
                <a:latin typeface="Calibri" pitchFamily="34" charset="0"/>
                <a:ea typeface="Calibri" pitchFamily="34" charset="-122"/>
                <a:cs typeface="Calibri" pitchFamily="34" charset="-120"/>
              </a:rPr>
              <a:t>POET  03</a:t>
            </a:r>
            <a:endParaRPr lang="en-US" sz="1000" dirty="0"/>
          </a:p>
        </p:txBody>
      </p:sp>
      <p:sp>
        <p:nvSpPr>
          <p:cNvPr id="6" name="Text 4"/>
          <p:cNvSpPr/>
          <p:nvPr/>
        </p:nvSpPr>
        <p:spPr>
          <a:xfrm>
            <a:off x="320040" y="868680"/>
            <a:ext cx="8503920" cy="6400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Matthew Arnold</a:t>
            </a:r>
            <a:endParaRPr lang="en-US" sz="3600" dirty="0"/>
          </a:p>
        </p:txBody>
      </p:sp>
      <p:sp>
        <p:nvSpPr>
          <p:cNvPr id="7" name="Text 5"/>
          <p:cNvSpPr/>
          <p:nvPr/>
        </p:nvSpPr>
        <p:spPr>
          <a:xfrm>
            <a:off x="320040" y="1536192"/>
            <a:ext cx="8503920" cy="347472"/>
          </a:xfrm>
          <a:prstGeom prst="rect">
            <a:avLst/>
          </a:prstGeom>
          <a:noFill/>
          <a:ln/>
        </p:spPr>
        <p:txBody>
          <a:bodyPr wrap="square" rtlCol="0" anchor="ctr"/>
          <a:lstStyle/>
          <a:p>
            <a:pPr indent="0" marL="0">
              <a:buNone/>
            </a:pPr>
            <a:r>
              <a:rPr lang="en-US" sz="1300" i="1" dirty="0">
                <a:solidFill>
                  <a:srgbClr val="F0DFA0"/>
                </a:solidFill>
                <a:latin typeface="Calibri" pitchFamily="34" charset="0"/>
                <a:ea typeface="Calibri" pitchFamily="34" charset="-122"/>
                <a:cs typeface="Calibri" pitchFamily="34" charset="-120"/>
              </a:rPr>
              <a:t>1822 – 1888  |  Poet, Critic, and Voice of Doubt</a:t>
            </a:r>
            <a:endParaRPr lang="en-US" sz="1300" dirty="0"/>
          </a:p>
        </p:txBody>
      </p:sp>
      <p:sp>
        <p:nvSpPr>
          <p:cNvPr id="8" name="Text 6"/>
          <p:cNvSpPr/>
          <p:nvPr/>
        </p:nvSpPr>
        <p:spPr>
          <a:xfrm>
            <a:off x="320040" y="1965960"/>
            <a:ext cx="5029200" cy="384048"/>
          </a:xfrm>
          <a:prstGeom prst="rect">
            <a:avLst/>
          </a:prstGeom>
          <a:noFill/>
          <a:ln/>
        </p:spPr>
        <p:txBody>
          <a:bodyPr wrap="square"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Dover Beach  (1867) — the poem that defines the era</a:t>
            </a:r>
            <a:endParaRPr lang="en-US" sz="1400" dirty="0"/>
          </a:p>
        </p:txBody>
      </p:sp>
      <p:sp>
        <p:nvSpPr>
          <p:cNvPr id="9" name="Shape 7"/>
          <p:cNvSpPr/>
          <p:nvPr/>
        </p:nvSpPr>
        <p:spPr>
          <a:xfrm>
            <a:off x="320040" y="2377440"/>
            <a:ext cx="5029200" cy="2651760"/>
          </a:xfrm>
          <a:prstGeom prst="rect">
            <a:avLst/>
          </a:prstGeom>
          <a:solidFill>
            <a:srgbClr val="1A2550"/>
          </a:solidFill>
          <a:ln w="12700">
            <a:solidFill>
              <a:srgbClr val="C9A84C"/>
            </a:solidFill>
            <a:prstDash val="solid"/>
          </a:ln>
        </p:spPr>
      </p:sp>
      <p:sp>
        <p:nvSpPr>
          <p:cNvPr id="10" name="Text 8"/>
          <p:cNvSpPr/>
          <p:nvPr/>
        </p:nvSpPr>
        <p:spPr>
          <a:xfrm>
            <a:off x="457200" y="2450592"/>
            <a:ext cx="4754880" cy="2487168"/>
          </a:xfrm>
          <a:prstGeom prst="rect">
            <a:avLst/>
          </a:prstGeom>
          <a:noFill/>
          <a:ln/>
        </p:spPr>
        <p:txBody>
          <a:bodyPr wrap="square" rtlCol="0" anchor="ctr"/>
          <a:lstStyle/>
          <a:p>
            <a:pPr algn="l" indent="0" marL="0">
              <a:buNone/>
            </a:pPr>
            <a:r>
              <a:rPr lang="en-US" sz="1200" dirty="0">
                <a:solidFill>
                  <a:srgbClr val="DDDDDD"/>
                </a:solidFill>
                <a:latin typeface="Calibri" pitchFamily="34" charset="0"/>
                <a:ea typeface="Calibri" pitchFamily="34" charset="-122"/>
                <a:cs typeface="Calibri" pitchFamily="34" charset="-120"/>
              </a:rPr>
              <a:t>"The Sea of Faith / Was once, too, at the full…"</a:t>
            </a:r>
            <a:endParaRPr lang="en-US" sz="1200" dirty="0"/>
          </a:p>
          <a:p>
            <a:pPr algn="l" indent="0" marL="0">
              <a:buNone/>
            </a:pPr>
            <a:endParaRPr lang="en-US" sz="1200" dirty="0"/>
          </a:p>
          <a:p>
            <a:pPr algn="l" indent="0" marL="0">
              <a:buNone/>
            </a:pPr>
            <a:r>
              <a:rPr lang="en-US" sz="1200" dirty="0">
                <a:solidFill>
                  <a:srgbClr val="DDDDDD"/>
                </a:solidFill>
                <a:latin typeface="Calibri" pitchFamily="34" charset="0"/>
                <a:ea typeface="Calibri" pitchFamily="34" charset="-122"/>
                <a:cs typeface="Calibri" pitchFamily="34" charset="-120"/>
              </a:rPr>
              <a:t>The speaker stands at Dover, looking at the sea. He hears the waves retreating — and hears in them the sound of religious faith draining away from the modern world.</a:t>
            </a:r>
            <a:endParaRPr lang="en-US" sz="1200" dirty="0"/>
          </a:p>
          <a:p>
            <a:pPr algn="l" indent="0" marL="0">
              <a:buNone/>
            </a:pPr>
            <a:endParaRPr lang="en-US" sz="1200" dirty="0"/>
          </a:p>
          <a:p>
            <a:pPr algn="l" indent="0" marL="0">
              <a:buNone/>
            </a:pPr>
            <a:r>
              <a:rPr lang="en-US" sz="1200" dirty="0">
                <a:solidFill>
                  <a:srgbClr val="DDDDDD"/>
                </a:solidFill>
                <a:latin typeface="Calibri" pitchFamily="34" charset="0"/>
                <a:ea typeface="Calibri" pitchFamily="34" charset="-122"/>
                <a:cs typeface="Calibri" pitchFamily="34" charset="-120"/>
              </a:rPr>
              <a:t>His answer? Only love can hold us. A fragile, human response to cosmic uncertainty.</a:t>
            </a:r>
            <a:endParaRPr lang="en-US" sz="1200" dirty="0"/>
          </a:p>
          <a:p>
            <a:pPr algn="l" indent="0" marL="0">
              <a:buNone/>
            </a:pPr>
            <a:endParaRPr lang="en-US" sz="1200" dirty="0"/>
          </a:p>
          <a:p>
            <a:pPr algn="l" indent="0" marL="0">
              <a:buNone/>
            </a:pPr>
            <a:r>
              <a:rPr lang="en-US" sz="1200" dirty="0">
                <a:solidFill>
                  <a:srgbClr val="DDDDDD"/>
                </a:solidFill>
                <a:latin typeface="Calibri" pitchFamily="34" charset="0"/>
                <a:ea typeface="Calibri" pitchFamily="34" charset="-122"/>
                <a:cs typeface="Calibri" pitchFamily="34" charset="-120"/>
              </a:rPr>
              <a:t>Not optimistic — but honest.</a:t>
            </a:r>
            <a:endParaRPr lang="en-US" sz="1200" dirty="0"/>
          </a:p>
        </p:txBody>
      </p:sp>
      <p:sp>
        <p:nvSpPr>
          <p:cNvPr id="11" name="Text 9"/>
          <p:cNvSpPr/>
          <p:nvPr/>
        </p:nvSpPr>
        <p:spPr>
          <a:xfrm>
            <a:off x="5669280" y="1965960"/>
            <a:ext cx="3154680" cy="347472"/>
          </a:xfrm>
          <a:prstGeom prst="rect">
            <a:avLst/>
          </a:prstGeom>
          <a:noFill/>
          <a:ln/>
        </p:spPr>
        <p:txBody>
          <a:bodyPr wrap="square"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Arnold's Big Ideas</a:t>
            </a:r>
            <a:endParaRPr lang="en-US" sz="1400" dirty="0"/>
          </a:p>
        </p:txBody>
      </p:sp>
      <p:sp>
        <p:nvSpPr>
          <p:cNvPr id="12" name="Shape 10"/>
          <p:cNvSpPr/>
          <p:nvPr/>
        </p:nvSpPr>
        <p:spPr>
          <a:xfrm>
            <a:off x="5669280" y="2377440"/>
            <a:ext cx="3154680" cy="804672"/>
          </a:xfrm>
          <a:prstGeom prst="rect">
            <a:avLst/>
          </a:prstGeom>
          <a:solidFill>
            <a:srgbClr val="1A2550"/>
          </a:solidFill>
          <a:ln w="12700">
            <a:solidFill>
              <a:srgbClr val="2E3A6E"/>
            </a:solidFill>
            <a:prstDash val="solid"/>
          </a:ln>
        </p:spPr>
      </p:sp>
      <p:sp>
        <p:nvSpPr>
          <p:cNvPr id="13" name="Text 11"/>
          <p:cNvSpPr/>
          <p:nvPr/>
        </p:nvSpPr>
        <p:spPr>
          <a:xfrm>
            <a:off x="5760720" y="2414016"/>
            <a:ext cx="2971800" cy="274320"/>
          </a:xfrm>
          <a:prstGeom prst="rect">
            <a:avLst/>
          </a:prstGeom>
          <a:noFill/>
          <a:ln/>
        </p:spPr>
        <p:txBody>
          <a:bodyPr wrap="square" rtlCol="0" anchor="ctr"/>
          <a:lstStyle/>
          <a:p>
            <a:pPr indent="0" marL="0">
              <a:buNone/>
            </a:pPr>
            <a:r>
              <a:rPr lang="en-US" sz="1150" b="1" dirty="0">
                <a:solidFill>
                  <a:srgbClr val="F0DFA0"/>
                </a:solidFill>
                <a:latin typeface="Cambria" pitchFamily="34" charset="0"/>
                <a:ea typeface="Cambria" pitchFamily="34" charset="-122"/>
                <a:cs typeface="Cambria" pitchFamily="34" charset="-120"/>
              </a:rPr>
              <a:t>📜  Culture &amp; Anarchy</a:t>
            </a:r>
            <a:endParaRPr lang="en-US" sz="1150" dirty="0"/>
          </a:p>
        </p:txBody>
      </p:sp>
      <p:sp>
        <p:nvSpPr>
          <p:cNvPr id="14" name="Text 12"/>
          <p:cNvSpPr/>
          <p:nvPr/>
        </p:nvSpPr>
        <p:spPr>
          <a:xfrm>
            <a:off x="5760720" y="2688336"/>
            <a:ext cx="2971800" cy="411480"/>
          </a:xfrm>
          <a:prstGeom prst="rect">
            <a:avLst/>
          </a:prstGeom>
          <a:noFill/>
          <a:ln/>
        </p:spPr>
        <p:txBody>
          <a:bodyPr wrap="square" rtlCol="0" anchor="ctr"/>
          <a:lstStyle/>
          <a:p>
            <a:pPr indent="0" marL="0">
              <a:buNone/>
            </a:pPr>
            <a:r>
              <a:rPr lang="en-US" sz="1050" dirty="0">
                <a:solidFill>
                  <a:srgbClr val="CCDDFF"/>
                </a:solidFill>
                <a:latin typeface="Calibri" pitchFamily="34" charset="0"/>
                <a:ea typeface="Calibri" pitchFamily="34" charset="-122"/>
                <a:cs typeface="Calibri" pitchFamily="34" charset="-120"/>
              </a:rPr>
              <a:t>In his criticism, Arnold argued culture should replace religion as moral authority.</a:t>
            </a:r>
            <a:endParaRPr lang="en-US" sz="1050" dirty="0"/>
          </a:p>
        </p:txBody>
      </p:sp>
      <p:sp>
        <p:nvSpPr>
          <p:cNvPr id="15" name="Shape 13"/>
          <p:cNvSpPr/>
          <p:nvPr/>
        </p:nvSpPr>
        <p:spPr>
          <a:xfrm>
            <a:off x="5669280" y="3264408"/>
            <a:ext cx="3154680" cy="804672"/>
          </a:xfrm>
          <a:prstGeom prst="rect">
            <a:avLst/>
          </a:prstGeom>
          <a:solidFill>
            <a:srgbClr val="1A2550"/>
          </a:solidFill>
          <a:ln w="12700">
            <a:solidFill>
              <a:srgbClr val="2E3A6E"/>
            </a:solidFill>
            <a:prstDash val="solid"/>
          </a:ln>
        </p:spPr>
      </p:sp>
      <p:sp>
        <p:nvSpPr>
          <p:cNvPr id="16" name="Text 14"/>
          <p:cNvSpPr/>
          <p:nvPr/>
        </p:nvSpPr>
        <p:spPr>
          <a:xfrm>
            <a:off x="5760720" y="3300984"/>
            <a:ext cx="2971800" cy="274320"/>
          </a:xfrm>
          <a:prstGeom prst="rect">
            <a:avLst/>
          </a:prstGeom>
          <a:noFill/>
          <a:ln/>
        </p:spPr>
        <p:txBody>
          <a:bodyPr wrap="square" rtlCol="0" anchor="ctr"/>
          <a:lstStyle/>
          <a:p>
            <a:pPr indent="0" marL="0">
              <a:buNone/>
            </a:pPr>
            <a:r>
              <a:rPr lang="en-US" sz="1150" b="1" dirty="0">
                <a:solidFill>
                  <a:srgbClr val="F0DFA0"/>
                </a:solidFill>
                <a:latin typeface="Cambria" pitchFamily="34" charset="0"/>
                <a:ea typeface="Cambria" pitchFamily="34" charset="-122"/>
                <a:cs typeface="Cambria" pitchFamily="34" charset="-120"/>
              </a:rPr>
              <a:t>🏛️  The Grand Style</a:t>
            </a:r>
            <a:endParaRPr lang="en-US" sz="1150" dirty="0"/>
          </a:p>
        </p:txBody>
      </p:sp>
      <p:sp>
        <p:nvSpPr>
          <p:cNvPr id="17" name="Text 15"/>
          <p:cNvSpPr/>
          <p:nvPr/>
        </p:nvSpPr>
        <p:spPr>
          <a:xfrm>
            <a:off x="5760720" y="3575304"/>
            <a:ext cx="2971800" cy="411480"/>
          </a:xfrm>
          <a:prstGeom prst="rect">
            <a:avLst/>
          </a:prstGeom>
          <a:noFill/>
          <a:ln/>
        </p:spPr>
        <p:txBody>
          <a:bodyPr wrap="square" rtlCol="0" anchor="ctr"/>
          <a:lstStyle/>
          <a:p>
            <a:pPr indent="0" marL="0">
              <a:buNone/>
            </a:pPr>
            <a:r>
              <a:rPr lang="en-US" sz="1050" dirty="0">
                <a:solidFill>
                  <a:srgbClr val="CCDDFF"/>
                </a:solidFill>
                <a:latin typeface="Calibri" pitchFamily="34" charset="0"/>
                <a:ea typeface="Calibri" pitchFamily="34" charset="-122"/>
                <a:cs typeface="Calibri" pitchFamily="34" charset="-120"/>
              </a:rPr>
              <a:t>Great literature elevates — it has seriousness, moral weight, clarity.</a:t>
            </a:r>
            <a:endParaRPr lang="en-US" sz="1050" dirty="0"/>
          </a:p>
        </p:txBody>
      </p:sp>
      <p:sp>
        <p:nvSpPr>
          <p:cNvPr id="18" name="Shape 16"/>
          <p:cNvSpPr/>
          <p:nvPr/>
        </p:nvSpPr>
        <p:spPr>
          <a:xfrm>
            <a:off x="5669280" y="4151376"/>
            <a:ext cx="3154680" cy="804672"/>
          </a:xfrm>
          <a:prstGeom prst="rect">
            <a:avLst/>
          </a:prstGeom>
          <a:solidFill>
            <a:srgbClr val="1A2550"/>
          </a:solidFill>
          <a:ln w="12700">
            <a:solidFill>
              <a:srgbClr val="2E3A6E"/>
            </a:solidFill>
            <a:prstDash val="solid"/>
          </a:ln>
        </p:spPr>
      </p:sp>
      <p:sp>
        <p:nvSpPr>
          <p:cNvPr id="19" name="Text 17"/>
          <p:cNvSpPr/>
          <p:nvPr/>
        </p:nvSpPr>
        <p:spPr>
          <a:xfrm>
            <a:off x="5760720" y="4187952"/>
            <a:ext cx="2971800" cy="274320"/>
          </a:xfrm>
          <a:prstGeom prst="rect">
            <a:avLst/>
          </a:prstGeom>
          <a:noFill/>
          <a:ln/>
        </p:spPr>
        <p:txBody>
          <a:bodyPr wrap="square" rtlCol="0" anchor="ctr"/>
          <a:lstStyle/>
          <a:p>
            <a:pPr indent="0" marL="0">
              <a:buNone/>
            </a:pPr>
            <a:r>
              <a:rPr lang="en-US" sz="1150" b="1" dirty="0">
                <a:solidFill>
                  <a:srgbClr val="F0DFA0"/>
                </a:solidFill>
                <a:latin typeface="Cambria" pitchFamily="34" charset="0"/>
                <a:ea typeface="Cambria" pitchFamily="34" charset="-122"/>
                <a:cs typeface="Cambria" pitchFamily="34" charset="-120"/>
              </a:rPr>
              <a:t>😔  Between Two Worlds</a:t>
            </a:r>
            <a:endParaRPr lang="en-US" sz="1150" dirty="0"/>
          </a:p>
        </p:txBody>
      </p:sp>
      <p:sp>
        <p:nvSpPr>
          <p:cNvPr id="20" name="Text 18"/>
          <p:cNvSpPr/>
          <p:nvPr/>
        </p:nvSpPr>
        <p:spPr>
          <a:xfrm>
            <a:off x="5760720" y="4462272"/>
            <a:ext cx="2971800" cy="411480"/>
          </a:xfrm>
          <a:prstGeom prst="rect">
            <a:avLst/>
          </a:prstGeom>
          <a:noFill/>
          <a:ln/>
        </p:spPr>
        <p:txBody>
          <a:bodyPr wrap="square" rtlCol="0" anchor="ctr"/>
          <a:lstStyle/>
          <a:p>
            <a:pPr indent="0" marL="0">
              <a:buNone/>
            </a:pPr>
            <a:r>
              <a:rPr lang="en-US" sz="1050" dirty="0">
                <a:solidFill>
                  <a:srgbClr val="CCDDFF"/>
                </a:solidFill>
                <a:latin typeface="Calibri" pitchFamily="34" charset="0"/>
                <a:ea typeface="Calibri" pitchFamily="34" charset="-122"/>
                <a:cs typeface="Calibri" pitchFamily="34" charset="-120"/>
              </a:rPr>
              <a:t>"Wandering between two worlds, one dead, the other powerless to be born."</a:t>
            </a:r>
            <a:endParaRPr lang="en-US" sz="1050" dirty="0"/>
          </a:p>
        </p:txBody>
      </p:sp>
      <p:sp>
        <p:nvSpPr>
          <p:cNvPr id="21" name="Text 19"/>
          <p:cNvSpPr/>
          <p:nvPr/>
        </p:nvSpPr>
        <p:spPr>
          <a:xfrm>
            <a:off x="320040" y="4663440"/>
            <a:ext cx="8503920" cy="320040"/>
          </a:xfrm>
          <a:prstGeom prst="rect">
            <a:avLst/>
          </a:prstGeom>
          <a:noFill/>
          <a:ln/>
        </p:spPr>
        <p:txBody>
          <a:bodyPr wrap="square" rtlCol="0" anchor="ctr"/>
          <a:lstStyle/>
          <a:p>
            <a:pPr indent="0" marL="0">
              <a:buNone/>
            </a:pPr>
            <a:r>
              <a:rPr lang="en-US" sz="1000" i="1" dirty="0">
                <a:solidFill>
                  <a:srgbClr val="7A6B5A"/>
                </a:solidFill>
                <a:latin typeface="Calibri" pitchFamily="34" charset="0"/>
                <a:ea typeface="Calibri" pitchFamily="34" charset="-122"/>
                <a:cs typeface="Calibri" pitchFamily="34" charset="-120"/>
              </a:rPr>
              <a:t>Other notable works: "The Scholar-Gipsy" (1853), "Thyrsis" (1866), "Sohrab and Rustum" (1853)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6"/>
          </a:solidFill>
          <a:ln/>
        </p:spPr>
      </p:sp>
      <p:sp>
        <p:nvSpPr>
          <p:cNvPr id="3" name="Shape 1"/>
          <p:cNvSpPr/>
          <p:nvPr/>
        </p:nvSpPr>
        <p:spPr>
          <a:xfrm>
            <a:off x="0" y="0"/>
            <a:ext cx="164592" cy="5143500"/>
          </a:xfrm>
          <a:prstGeom prst="rect">
            <a:avLst/>
          </a:prstGeom>
          <a:solidFill>
            <a:srgbClr val="6B2737"/>
          </a:solidFill>
          <a:ln w="12700">
            <a:solidFill>
              <a:srgbClr val="6B2737"/>
            </a:solidFill>
            <a:prstDash val="solid"/>
          </a:ln>
        </p:spPr>
      </p:sp>
      <p:sp>
        <p:nvSpPr>
          <p:cNvPr id="4" name="Shape 2"/>
          <p:cNvSpPr/>
          <p:nvPr/>
        </p:nvSpPr>
        <p:spPr>
          <a:xfrm>
            <a:off x="320040" y="320040"/>
            <a:ext cx="1005840" cy="457200"/>
          </a:xfrm>
          <a:prstGeom prst="rect">
            <a:avLst/>
          </a:prstGeom>
          <a:solidFill>
            <a:srgbClr val="6B2737"/>
          </a:solidFill>
          <a:ln w="12700">
            <a:solidFill>
              <a:srgbClr val="6B2737"/>
            </a:solidFill>
            <a:prstDash val="solid"/>
          </a:ln>
        </p:spPr>
      </p:sp>
      <p:sp>
        <p:nvSpPr>
          <p:cNvPr id="5" name="Text 3"/>
          <p:cNvSpPr/>
          <p:nvPr/>
        </p:nvSpPr>
        <p:spPr>
          <a:xfrm>
            <a:off x="320040" y="320040"/>
            <a:ext cx="10058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POET  04</a:t>
            </a:r>
            <a:endParaRPr lang="en-US" sz="1000" dirty="0"/>
          </a:p>
        </p:txBody>
      </p:sp>
      <p:sp>
        <p:nvSpPr>
          <p:cNvPr id="6" name="Text 4"/>
          <p:cNvSpPr/>
          <p:nvPr/>
        </p:nvSpPr>
        <p:spPr>
          <a:xfrm>
            <a:off x="320040" y="868680"/>
            <a:ext cx="5943600" cy="640080"/>
          </a:xfrm>
          <a:prstGeom prst="rect">
            <a:avLst/>
          </a:prstGeom>
          <a:noFill/>
          <a:ln/>
        </p:spPr>
        <p:txBody>
          <a:bodyPr wrap="square" rtlCol="0" anchor="ctr"/>
          <a:lstStyle/>
          <a:p>
            <a:pPr indent="0" marL="0">
              <a:buNone/>
            </a:pPr>
            <a:r>
              <a:rPr lang="en-US" sz="3400" b="1" dirty="0">
                <a:solidFill>
                  <a:srgbClr val="1A1A2E"/>
                </a:solidFill>
                <a:latin typeface="Cambria" pitchFamily="34" charset="0"/>
                <a:ea typeface="Cambria" pitchFamily="34" charset="-122"/>
                <a:cs typeface="Cambria" pitchFamily="34" charset="-120"/>
              </a:rPr>
              <a:t>Christina Rossetti</a:t>
            </a:r>
            <a:endParaRPr lang="en-US" sz="3400" dirty="0"/>
          </a:p>
        </p:txBody>
      </p:sp>
      <p:sp>
        <p:nvSpPr>
          <p:cNvPr id="7" name="Text 5"/>
          <p:cNvSpPr/>
          <p:nvPr/>
        </p:nvSpPr>
        <p:spPr>
          <a:xfrm>
            <a:off x="320040" y="1527048"/>
            <a:ext cx="5943600" cy="347472"/>
          </a:xfrm>
          <a:prstGeom prst="rect">
            <a:avLst/>
          </a:prstGeom>
          <a:noFill/>
          <a:ln/>
        </p:spPr>
        <p:txBody>
          <a:bodyPr wrap="square" rtlCol="0" anchor="ctr"/>
          <a:lstStyle/>
          <a:p>
            <a:pPr indent="0" marL="0">
              <a:buNone/>
            </a:pPr>
            <a:r>
              <a:rPr lang="en-US" sz="1200" i="1" dirty="0">
                <a:solidFill>
                  <a:srgbClr val="6B2737"/>
                </a:solidFill>
                <a:latin typeface="Calibri" pitchFamily="34" charset="0"/>
                <a:ea typeface="Calibri" pitchFamily="34" charset="-122"/>
                <a:cs typeface="Calibri" pitchFamily="34" charset="-120"/>
              </a:rPr>
              <a:t>1830 – 1894  |  Faith, Love, Death, and Women's Desire</a:t>
            </a:r>
            <a:endParaRPr lang="en-US" sz="1200" dirty="0"/>
          </a:p>
        </p:txBody>
      </p:sp>
      <p:sp>
        <p:nvSpPr>
          <p:cNvPr id="8" name="Shape 6"/>
          <p:cNvSpPr/>
          <p:nvPr/>
        </p:nvSpPr>
        <p:spPr>
          <a:xfrm>
            <a:off x="320040" y="1938528"/>
            <a:ext cx="4114800" cy="3127248"/>
          </a:xfrm>
          <a:prstGeom prst="rect">
            <a:avLst/>
          </a:prstGeom>
          <a:solidFill>
            <a:srgbClr val="1A1A2E"/>
          </a:solidFill>
          <a:ln w="12700">
            <a:solidFill>
              <a:srgbClr val="1A1A2E"/>
            </a:solidFill>
            <a:prstDash val="solid"/>
          </a:ln>
        </p:spPr>
      </p:sp>
      <p:sp>
        <p:nvSpPr>
          <p:cNvPr id="9" name="Shape 7"/>
          <p:cNvSpPr/>
          <p:nvPr/>
        </p:nvSpPr>
        <p:spPr>
          <a:xfrm>
            <a:off x="320040" y="1938528"/>
            <a:ext cx="4114800" cy="347472"/>
          </a:xfrm>
          <a:prstGeom prst="rect">
            <a:avLst/>
          </a:prstGeom>
          <a:solidFill>
            <a:srgbClr val="6B2737"/>
          </a:solidFill>
          <a:ln w="12700">
            <a:solidFill>
              <a:srgbClr val="6B2737"/>
            </a:solidFill>
            <a:prstDash val="solid"/>
          </a:ln>
        </p:spPr>
      </p:sp>
      <p:sp>
        <p:nvSpPr>
          <p:cNvPr id="10" name="Text 8"/>
          <p:cNvSpPr/>
          <p:nvPr/>
        </p:nvSpPr>
        <p:spPr>
          <a:xfrm>
            <a:off x="411480" y="1938528"/>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Goblin Market  (1862)</a:t>
            </a:r>
            <a:endParaRPr lang="en-US" sz="1300" dirty="0"/>
          </a:p>
        </p:txBody>
      </p:sp>
      <p:sp>
        <p:nvSpPr>
          <p:cNvPr id="11" name="Text 9"/>
          <p:cNvSpPr/>
          <p:nvPr/>
        </p:nvSpPr>
        <p:spPr>
          <a:xfrm>
            <a:off x="411480" y="2331720"/>
            <a:ext cx="3886200" cy="2606040"/>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Two sisters — Laura and Lizzie — encounter goblins selling luscious fruit.</a:t>
            </a: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Laura eats it and becomes addicted, withering away.</a:t>
            </a: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Lizzie goes to buy more fruit, is attacked by the goblins, but resists — and brings the juice back on her skin for Laura to lick off, saving her.</a:t>
            </a:r>
            <a:endParaRPr lang="en-US" sz="1100" dirty="0"/>
          </a:p>
          <a:p>
            <a:pPr indent="0" marL="0">
              <a:buNone/>
            </a:pP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What does it mean? Everything.</a:t>
            </a: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 Temptation and female sexuality</a:t>
            </a: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 Sisterhood as salvation</a:t>
            </a: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 The danger of desire outside marriage</a:t>
            </a:r>
            <a:endParaRPr lang="en-US" sz="1100" dirty="0"/>
          </a:p>
          <a:p>
            <a:pPr indent="0" marL="0">
              <a:buNone/>
            </a:pPr>
            <a:r>
              <a:rPr lang="en-US" sz="1100" dirty="0">
                <a:solidFill>
                  <a:srgbClr val="DDDDDD"/>
                </a:solidFill>
                <a:latin typeface="Calibri" pitchFamily="34" charset="0"/>
                <a:ea typeface="Calibri" pitchFamily="34" charset="-122"/>
                <a:cs typeface="Calibri" pitchFamily="34" charset="-120"/>
              </a:rPr>
              <a:t>• A fairy tale with darker edges than any Disney film</a:t>
            </a:r>
            <a:endParaRPr lang="en-US" sz="1100" dirty="0"/>
          </a:p>
        </p:txBody>
      </p:sp>
      <p:sp>
        <p:nvSpPr>
          <p:cNvPr id="12" name="Shape 10"/>
          <p:cNvSpPr/>
          <p:nvPr/>
        </p:nvSpPr>
        <p:spPr>
          <a:xfrm>
            <a:off x="4663440" y="1938528"/>
            <a:ext cx="4069080" cy="1143000"/>
          </a:xfrm>
          <a:prstGeom prst="rect">
            <a:avLst/>
          </a:prstGeom>
          <a:solidFill>
            <a:srgbClr val="FFFFFF"/>
          </a:solidFill>
          <a:ln w="12700">
            <a:solidFill>
              <a:srgbClr val="DDD5C8"/>
            </a:solidFill>
            <a:prstDash val="solid"/>
          </a:ln>
          <a:effectLst>
            <a:outerShdw sx="100000" sy="100000" kx="0" ky="0" algn="bl" rotWithShape="0" blurRad="50800" dist="25400" dir="2700000">
              <a:srgbClr val="CCCCCC">
                <a:alpha val="30000"/>
              </a:srgbClr>
            </a:outerShdw>
          </a:effectLst>
        </p:spPr>
      </p:sp>
      <p:sp>
        <p:nvSpPr>
          <p:cNvPr id="13" name="Text 11"/>
          <p:cNvSpPr/>
          <p:nvPr/>
        </p:nvSpPr>
        <p:spPr>
          <a:xfrm>
            <a:off x="4754880" y="1984248"/>
            <a:ext cx="3886200" cy="329184"/>
          </a:xfrm>
          <a:prstGeom prst="rect">
            <a:avLst/>
          </a:prstGeom>
          <a:noFill/>
          <a:ln/>
        </p:spPr>
        <p:txBody>
          <a:bodyPr wrap="square" rtlCol="0" anchor="ctr"/>
          <a:lstStyle/>
          <a:p>
            <a:pPr indent="0" marL="0">
              <a:buNone/>
            </a:pPr>
            <a:r>
              <a:rPr lang="en-US" sz="1250" b="1" dirty="0">
                <a:solidFill>
                  <a:srgbClr val="6B2737"/>
                </a:solidFill>
                <a:latin typeface="Cambria" pitchFamily="34" charset="0"/>
                <a:ea typeface="Cambria" pitchFamily="34" charset="-122"/>
                <a:cs typeface="Cambria" pitchFamily="34" charset="-120"/>
              </a:rPr>
              <a:t>"Remember"  (1849)</a:t>
            </a:r>
            <a:endParaRPr lang="en-US" sz="1250" dirty="0"/>
          </a:p>
        </p:txBody>
      </p:sp>
      <p:sp>
        <p:nvSpPr>
          <p:cNvPr id="14" name="Text 12"/>
          <p:cNvSpPr/>
          <p:nvPr/>
        </p:nvSpPr>
        <p:spPr>
          <a:xfrm>
            <a:off x="4754880" y="2322576"/>
            <a:ext cx="3886200" cy="694944"/>
          </a:xfrm>
          <a:prstGeom prst="rect">
            <a:avLst/>
          </a:prstGeom>
          <a:noFill/>
          <a:ln/>
        </p:spPr>
        <p:txBody>
          <a:bodyPr wrap="square" rtlCol="0" anchor="ctr"/>
          <a:lstStyle/>
          <a:p>
            <a:pPr indent="0" marL="0">
              <a:buNone/>
            </a:pPr>
            <a:r>
              <a:rPr lang="en-US" sz="1050" dirty="0">
                <a:solidFill>
                  <a:srgbClr val="7A6B5A"/>
                </a:solidFill>
                <a:latin typeface="Calibri" pitchFamily="34" charset="0"/>
                <a:ea typeface="Calibri" pitchFamily="34" charset="-122"/>
                <a:cs typeface="Calibri" pitchFamily="34" charset="-120"/>
              </a:rPr>
              <a:t>"Remember me when I am gone away… / Yet if you should forget me for a while / And afterwards remember, do not grieve." A Petrarchan sonnet asking to be remembered — then, remarkably, saying it's OK to forget.</a:t>
            </a:r>
            <a:endParaRPr lang="en-US" sz="1050" dirty="0"/>
          </a:p>
        </p:txBody>
      </p:sp>
      <p:sp>
        <p:nvSpPr>
          <p:cNvPr id="15" name="Shape 13"/>
          <p:cNvSpPr/>
          <p:nvPr/>
        </p:nvSpPr>
        <p:spPr>
          <a:xfrm>
            <a:off x="4663440" y="3200400"/>
            <a:ext cx="4069080" cy="1143000"/>
          </a:xfrm>
          <a:prstGeom prst="rect">
            <a:avLst/>
          </a:prstGeom>
          <a:solidFill>
            <a:srgbClr val="FFFFFF"/>
          </a:solidFill>
          <a:ln w="12700">
            <a:solidFill>
              <a:srgbClr val="DDD5C8"/>
            </a:solidFill>
            <a:prstDash val="solid"/>
          </a:ln>
          <a:effectLst>
            <a:outerShdw sx="100000" sy="100000" kx="0" ky="0" algn="bl" rotWithShape="0" blurRad="50800" dist="25400" dir="2700000">
              <a:srgbClr val="CCCCCC">
                <a:alpha val="30000"/>
              </a:srgbClr>
            </a:outerShdw>
          </a:effectLst>
        </p:spPr>
      </p:sp>
      <p:sp>
        <p:nvSpPr>
          <p:cNvPr id="16" name="Text 14"/>
          <p:cNvSpPr/>
          <p:nvPr/>
        </p:nvSpPr>
        <p:spPr>
          <a:xfrm>
            <a:off x="4754880" y="3246120"/>
            <a:ext cx="3886200" cy="329184"/>
          </a:xfrm>
          <a:prstGeom prst="rect">
            <a:avLst/>
          </a:prstGeom>
          <a:noFill/>
          <a:ln/>
        </p:spPr>
        <p:txBody>
          <a:bodyPr wrap="square" rtlCol="0" anchor="ctr"/>
          <a:lstStyle/>
          <a:p>
            <a:pPr indent="0" marL="0">
              <a:buNone/>
            </a:pPr>
            <a:r>
              <a:rPr lang="en-US" sz="1250" b="1" dirty="0">
                <a:solidFill>
                  <a:srgbClr val="1A1A2E"/>
                </a:solidFill>
                <a:latin typeface="Cambria" pitchFamily="34" charset="0"/>
                <a:ea typeface="Cambria" pitchFamily="34" charset="-122"/>
                <a:cs typeface="Cambria" pitchFamily="34" charset="-120"/>
              </a:rPr>
              <a:t>A Birthday  (1861)</a:t>
            </a:r>
            <a:endParaRPr lang="en-US" sz="1250" dirty="0"/>
          </a:p>
        </p:txBody>
      </p:sp>
      <p:sp>
        <p:nvSpPr>
          <p:cNvPr id="17" name="Text 15"/>
          <p:cNvSpPr/>
          <p:nvPr/>
        </p:nvSpPr>
        <p:spPr>
          <a:xfrm>
            <a:off x="4754880" y="3575304"/>
            <a:ext cx="3886200" cy="694944"/>
          </a:xfrm>
          <a:prstGeom prst="rect">
            <a:avLst/>
          </a:prstGeom>
          <a:noFill/>
          <a:ln/>
        </p:spPr>
        <p:txBody>
          <a:bodyPr wrap="square" rtlCol="0" anchor="ctr"/>
          <a:lstStyle/>
          <a:p>
            <a:pPr indent="0" marL="0">
              <a:buNone/>
            </a:pPr>
            <a:r>
              <a:rPr lang="en-US" sz="1050" dirty="0">
                <a:solidFill>
                  <a:srgbClr val="7A6B5A"/>
                </a:solidFill>
                <a:latin typeface="Calibri" pitchFamily="34" charset="0"/>
                <a:ea typeface="Calibri" pitchFamily="34" charset="-122"/>
                <a:cs typeface="Calibri" pitchFamily="34" charset="-120"/>
              </a:rPr>
              <a:t>"My heart is like a singing bird… / Because the birthday of my life / Is come, my love is come to me." A lyric of pure joy — unusual in a poet often associated with restraint and melancholy.</a:t>
            </a:r>
            <a:endParaRPr lang="en-US" sz="1050" dirty="0"/>
          </a:p>
        </p:txBody>
      </p:sp>
      <p:sp>
        <p:nvSpPr>
          <p:cNvPr id="18" name="Shape 16"/>
          <p:cNvSpPr/>
          <p:nvPr/>
        </p:nvSpPr>
        <p:spPr>
          <a:xfrm>
            <a:off x="4663440" y="4462272"/>
            <a:ext cx="4069080" cy="594360"/>
          </a:xfrm>
          <a:prstGeom prst="rect">
            <a:avLst/>
          </a:prstGeom>
          <a:solidFill>
            <a:srgbClr val="6B2737"/>
          </a:solidFill>
          <a:ln w="12700">
            <a:solidFill>
              <a:srgbClr val="6B2737"/>
            </a:solidFill>
            <a:prstDash val="solid"/>
          </a:ln>
        </p:spPr>
      </p:sp>
      <p:sp>
        <p:nvSpPr>
          <p:cNvPr id="19" name="Text 17"/>
          <p:cNvSpPr/>
          <p:nvPr/>
        </p:nvSpPr>
        <p:spPr>
          <a:xfrm>
            <a:off x="4754880" y="4480560"/>
            <a:ext cx="3886200" cy="548640"/>
          </a:xfrm>
          <a:prstGeom prst="rect">
            <a:avLst/>
          </a:prstGeom>
          <a:noFill/>
          <a:ln/>
        </p:spPr>
        <p:txBody>
          <a:bodyPr wrap="square" rtlCol="0" anchor="ctr"/>
          <a:lstStyle/>
          <a:p>
            <a:pPr indent="0" marL="0">
              <a:buNone/>
            </a:pPr>
            <a:r>
              <a:rPr lang="en-US" sz="950" i="1" dirty="0">
                <a:solidFill>
                  <a:srgbClr val="F0DFA0"/>
                </a:solidFill>
                <a:latin typeface="Calibri" pitchFamily="34" charset="0"/>
                <a:ea typeface="Calibri" pitchFamily="34" charset="-122"/>
                <a:cs typeface="Calibri" pitchFamily="34" charset="-120"/>
              </a:rPr>
              <a:t>Sister of painter Dante Gabriel Rossetti · Part of the Pre-Raphaelite circle · Deeply devout Anglican · Turned down two marriage proposals on religious grounds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0"/>
            <a:ext cx="164592" cy="5143500"/>
          </a:xfrm>
          <a:prstGeom prst="rect">
            <a:avLst/>
          </a:prstGeom>
          <a:solidFill>
            <a:srgbClr val="C9A84C"/>
          </a:solidFill>
          <a:ln w="12700">
            <a:solidFill>
              <a:srgbClr val="C9A84C"/>
            </a:solidFill>
            <a:prstDash val="solid"/>
          </a:ln>
        </p:spPr>
      </p:sp>
      <p:sp>
        <p:nvSpPr>
          <p:cNvPr id="4" name="Shape 2"/>
          <p:cNvSpPr/>
          <p:nvPr/>
        </p:nvSpPr>
        <p:spPr>
          <a:xfrm>
            <a:off x="320040" y="320040"/>
            <a:ext cx="1005840" cy="457200"/>
          </a:xfrm>
          <a:prstGeom prst="rect">
            <a:avLst/>
          </a:prstGeom>
          <a:solidFill>
            <a:srgbClr val="C9A84C"/>
          </a:solidFill>
          <a:ln w="12700">
            <a:solidFill>
              <a:srgbClr val="C9A84C"/>
            </a:solidFill>
            <a:prstDash val="solid"/>
          </a:ln>
        </p:spPr>
      </p:sp>
      <p:sp>
        <p:nvSpPr>
          <p:cNvPr id="5" name="Text 3"/>
          <p:cNvSpPr/>
          <p:nvPr/>
        </p:nvSpPr>
        <p:spPr>
          <a:xfrm>
            <a:off x="320040" y="320040"/>
            <a:ext cx="1005840" cy="457200"/>
          </a:xfrm>
          <a:prstGeom prst="rect">
            <a:avLst/>
          </a:prstGeom>
          <a:noFill/>
          <a:ln/>
        </p:spPr>
        <p:txBody>
          <a:bodyPr wrap="square" lIns="0" tIns="0" rIns="0" bIns="0" rtlCol="0" anchor="ctr"/>
          <a:lstStyle/>
          <a:p>
            <a:pPr algn="ctr" indent="0" marL="0">
              <a:buNone/>
            </a:pPr>
            <a:r>
              <a:rPr lang="en-US" sz="1000" b="1" dirty="0">
                <a:solidFill>
                  <a:srgbClr val="1A1A2E"/>
                </a:solidFill>
                <a:latin typeface="Calibri" pitchFamily="34" charset="0"/>
                <a:ea typeface="Calibri" pitchFamily="34" charset="-122"/>
                <a:cs typeface="Calibri" pitchFamily="34" charset="-120"/>
              </a:rPr>
              <a:t>POET  05</a:t>
            </a:r>
            <a:endParaRPr lang="en-US" sz="1000" dirty="0"/>
          </a:p>
        </p:txBody>
      </p:sp>
      <p:sp>
        <p:nvSpPr>
          <p:cNvPr id="6" name="Text 4"/>
          <p:cNvSpPr/>
          <p:nvPr/>
        </p:nvSpPr>
        <p:spPr>
          <a:xfrm>
            <a:off x="320040" y="868680"/>
            <a:ext cx="850392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Gerard Manley Hopkins</a:t>
            </a:r>
            <a:endParaRPr lang="en-US" sz="3400" dirty="0"/>
          </a:p>
        </p:txBody>
      </p:sp>
      <p:sp>
        <p:nvSpPr>
          <p:cNvPr id="7" name="Text 5"/>
          <p:cNvSpPr/>
          <p:nvPr/>
        </p:nvSpPr>
        <p:spPr>
          <a:xfrm>
            <a:off x="320040" y="1536192"/>
            <a:ext cx="8503920" cy="347472"/>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1844 – 1889  |  Jesuit Priest · Modernism's Hidden Ancestor · Published Posthumously (1918)</a:t>
            </a:r>
            <a:endParaRPr lang="en-US" sz="1200" dirty="0"/>
          </a:p>
        </p:txBody>
      </p:sp>
      <p:sp>
        <p:nvSpPr>
          <p:cNvPr id="8" name="Text 6"/>
          <p:cNvSpPr/>
          <p:nvPr/>
        </p:nvSpPr>
        <p:spPr>
          <a:xfrm>
            <a:off x="320040" y="1965960"/>
            <a:ext cx="5029200" cy="365760"/>
          </a:xfrm>
          <a:prstGeom prst="rect">
            <a:avLst/>
          </a:prstGeom>
          <a:noFill/>
          <a:ln/>
        </p:spPr>
        <p:txBody>
          <a:bodyPr wrap="square" rtlCol="0" anchor="ctr"/>
          <a:lstStyle/>
          <a:p>
            <a:pPr indent="0" marL="0">
              <a:buNone/>
            </a:pPr>
            <a:r>
              <a:rPr lang="en-US" sz="1500" b="1" dirty="0">
                <a:solidFill>
                  <a:srgbClr val="F0DFA0"/>
                </a:solidFill>
                <a:latin typeface="Cambria" pitchFamily="34" charset="0"/>
                <a:ea typeface="Cambria" pitchFamily="34" charset="-122"/>
                <a:cs typeface="Cambria" pitchFamily="34" charset="-120"/>
              </a:rPr>
              <a:t>Hopkins's Two Revolutionary Ideas</a:t>
            </a:r>
            <a:endParaRPr lang="en-US" sz="1500" dirty="0"/>
          </a:p>
        </p:txBody>
      </p:sp>
      <p:sp>
        <p:nvSpPr>
          <p:cNvPr id="9" name="Shape 7"/>
          <p:cNvSpPr/>
          <p:nvPr/>
        </p:nvSpPr>
        <p:spPr>
          <a:xfrm>
            <a:off x="320040" y="2395728"/>
            <a:ext cx="5029200" cy="1261872"/>
          </a:xfrm>
          <a:prstGeom prst="rect">
            <a:avLst/>
          </a:prstGeom>
          <a:solidFill>
            <a:srgbClr val="2A1A22"/>
          </a:solidFill>
          <a:ln w="12700">
            <a:solidFill>
              <a:srgbClr val="6B2737"/>
            </a:solidFill>
            <a:prstDash val="solid"/>
          </a:ln>
        </p:spPr>
      </p:sp>
      <p:sp>
        <p:nvSpPr>
          <p:cNvPr id="10" name="Text 8"/>
          <p:cNvSpPr/>
          <p:nvPr/>
        </p:nvSpPr>
        <p:spPr>
          <a:xfrm>
            <a:off x="457200" y="2450592"/>
            <a:ext cx="4754880" cy="320040"/>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Sprung Rhythm</a:t>
            </a:r>
            <a:endParaRPr lang="en-US" sz="1300" dirty="0"/>
          </a:p>
        </p:txBody>
      </p:sp>
      <p:sp>
        <p:nvSpPr>
          <p:cNvPr id="11" name="Text 9"/>
          <p:cNvSpPr/>
          <p:nvPr/>
        </p:nvSpPr>
        <p:spPr>
          <a:xfrm>
            <a:off x="457200" y="2779776"/>
            <a:ext cx="4754880" cy="548640"/>
          </a:xfrm>
          <a:prstGeom prst="rect">
            <a:avLst/>
          </a:prstGeom>
          <a:noFill/>
          <a:ln/>
        </p:spPr>
        <p:txBody>
          <a:bodyPr wrap="square" rtlCol="0" anchor="ctr"/>
          <a:lstStyle/>
          <a:p>
            <a:pPr indent="0" marL="0">
              <a:buNone/>
            </a:pPr>
            <a:r>
              <a:rPr lang="en-US" sz="1050" dirty="0">
                <a:solidFill>
                  <a:srgbClr val="DDDDDD"/>
                </a:solidFill>
                <a:latin typeface="Calibri" pitchFamily="34" charset="0"/>
                <a:ea typeface="Calibri" pitchFamily="34" charset="-122"/>
                <a:cs typeface="Calibri" pitchFamily="34" charset="-120"/>
              </a:rPr>
              <a:t>Traditional metre counts the number of syllables. Hopkins said: only count the stressed syllables. The unstressed ones can be however many you like. The result? Poetry that sounds like speech, like music, like rushing water.</a:t>
            </a:r>
            <a:endParaRPr lang="en-US" sz="1050" dirty="0"/>
          </a:p>
        </p:txBody>
      </p:sp>
      <p:sp>
        <p:nvSpPr>
          <p:cNvPr id="12" name="Text 10"/>
          <p:cNvSpPr/>
          <p:nvPr/>
        </p:nvSpPr>
        <p:spPr>
          <a:xfrm>
            <a:off x="457200" y="3328416"/>
            <a:ext cx="4754880" cy="274320"/>
          </a:xfrm>
          <a:prstGeom prst="rect">
            <a:avLst/>
          </a:prstGeom>
          <a:noFill/>
          <a:ln/>
        </p:spPr>
        <p:txBody>
          <a:bodyPr wrap="square" rtlCol="0" anchor="ctr"/>
          <a:lstStyle/>
          <a:p>
            <a:pPr indent="0" marL="0">
              <a:buNone/>
            </a:pPr>
            <a:r>
              <a:rPr lang="en-US" sz="950" i="1" dirty="0">
                <a:solidFill>
                  <a:srgbClr val="F0DFA0"/>
                </a:solidFill>
                <a:latin typeface="Cambria" pitchFamily="34" charset="0"/>
                <a:ea typeface="Cambria" pitchFamily="34" charset="-122"/>
                <a:cs typeface="Cambria" pitchFamily="34" charset="-120"/>
              </a:rPr>
              <a:t>"The world is charged with the grandeur of God.</a:t>
            </a:r>
            <a:endParaRPr lang="en-US" sz="950" dirty="0"/>
          </a:p>
          <a:p>
            <a:pPr indent="0" marL="0">
              <a:buNone/>
            </a:pPr>
            <a:r>
              <a:rPr lang="en-US" sz="950" i="1" dirty="0">
                <a:solidFill>
                  <a:srgbClr val="F0DFA0"/>
                </a:solidFill>
                <a:latin typeface="Cambria" pitchFamily="34" charset="0"/>
                <a:ea typeface="Cambria" pitchFamily="34" charset="-122"/>
                <a:cs typeface="Cambria" pitchFamily="34" charset="-120"/>
              </a:rPr>
              <a:t>It will flame out, like shining from shook foil."</a:t>
            </a:r>
            <a:endParaRPr lang="en-US" sz="950" dirty="0"/>
          </a:p>
        </p:txBody>
      </p:sp>
      <p:sp>
        <p:nvSpPr>
          <p:cNvPr id="13" name="Shape 11"/>
          <p:cNvSpPr/>
          <p:nvPr/>
        </p:nvSpPr>
        <p:spPr>
          <a:xfrm>
            <a:off x="320040" y="3767328"/>
            <a:ext cx="5029200" cy="1261872"/>
          </a:xfrm>
          <a:prstGeom prst="rect">
            <a:avLst/>
          </a:prstGeom>
          <a:solidFill>
            <a:srgbClr val="2A1A22"/>
          </a:solidFill>
          <a:ln w="12700">
            <a:solidFill>
              <a:srgbClr val="6B2737"/>
            </a:solidFill>
            <a:prstDash val="solid"/>
          </a:ln>
        </p:spPr>
      </p:sp>
      <p:sp>
        <p:nvSpPr>
          <p:cNvPr id="14" name="Text 12"/>
          <p:cNvSpPr/>
          <p:nvPr/>
        </p:nvSpPr>
        <p:spPr>
          <a:xfrm>
            <a:off x="457200" y="3822192"/>
            <a:ext cx="4754880" cy="320040"/>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Inscape &amp; Instress</a:t>
            </a:r>
            <a:endParaRPr lang="en-US" sz="1300" dirty="0"/>
          </a:p>
        </p:txBody>
      </p:sp>
      <p:sp>
        <p:nvSpPr>
          <p:cNvPr id="15" name="Text 13"/>
          <p:cNvSpPr/>
          <p:nvPr/>
        </p:nvSpPr>
        <p:spPr>
          <a:xfrm>
            <a:off x="457200" y="4151376"/>
            <a:ext cx="4754880" cy="548640"/>
          </a:xfrm>
          <a:prstGeom prst="rect">
            <a:avLst/>
          </a:prstGeom>
          <a:noFill/>
          <a:ln/>
        </p:spPr>
        <p:txBody>
          <a:bodyPr wrap="square" rtlCol="0" anchor="ctr"/>
          <a:lstStyle/>
          <a:p>
            <a:pPr indent="0" marL="0">
              <a:buNone/>
            </a:pPr>
            <a:r>
              <a:rPr lang="en-US" sz="1050" dirty="0">
                <a:solidFill>
                  <a:srgbClr val="DDDDDD"/>
                </a:solidFill>
                <a:latin typeface="Calibri" pitchFamily="34" charset="0"/>
                <a:ea typeface="Calibri" pitchFamily="34" charset="-122"/>
                <a:cs typeface="Calibri" pitchFamily="34" charset="-120"/>
              </a:rPr>
              <a:t>"Inscape" = the unique, individual essence of a thing. Every leaf, every cloud, every person has an inner design that makes it itself and nothing else. Hopkins's poems try to capture that essence in words.</a:t>
            </a:r>
            <a:endParaRPr lang="en-US" sz="1050" dirty="0"/>
          </a:p>
        </p:txBody>
      </p:sp>
      <p:sp>
        <p:nvSpPr>
          <p:cNvPr id="16" name="Text 14"/>
          <p:cNvSpPr/>
          <p:nvPr/>
        </p:nvSpPr>
        <p:spPr>
          <a:xfrm>
            <a:off x="457200" y="4700016"/>
            <a:ext cx="4754880" cy="274320"/>
          </a:xfrm>
          <a:prstGeom prst="rect">
            <a:avLst/>
          </a:prstGeom>
          <a:noFill/>
          <a:ln/>
        </p:spPr>
        <p:txBody>
          <a:bodyPr wrap="square" rtlCol="0" anchor="ctr"/>
          <a:lstStyle/>
          <a:p>
            <a:pPr indent="0" marL="0">
              <a:buNone/>
            </a:pPr>
            <a:r>
              <a:rPr lang="en-US" sz="950" i="1" dirty="0">
                <a:solidFill>
                  <a:srgbClr val="F0DFA0"/>
                </a:solidFill>
                <a:latin typeface="Cambria" pitchFamily="34" charset="0"/>
                <a:ea typeface="Cambria" pitchFamily="34" charset="-122"/>
                <a:cs typeface="Cambria" pitchFamily="34" charset="-120"/>
              </a:rPr>
              <a:t>"All things counter, original, spare, strange;</a:t>
            </a:r>
            <a:endParaRPr lang="en-US" sz="950" dirty="0"/>
          </a:p>
          <a:p>
            <a:pPr indent="0" marL="0">
              <a:buNone/>
            </a:pPr>
            <a:r>
              <a:rPr lang="en-US" sz="950" i="1" dirty="0">
                <a:solidFill>
                  <a:srgbClr val="F0DFA0"/>
                </a:solidFill>
                <a:latin typeface="Cambria" pitchFamily="34" charset="0"/>
                <a:ea typeface="Cambria" pitchFamily="34" charset="-122"/>
                <a:cs typeface="Cambria" pitchFamily="34" charset="-120"/>
              </a:rPr>
              <a:t>Whatever is fickle, freckled (who knows how?)"</a:t>
            </a:r>
            <a:endParaRPr lang="en-US" sz="950" dirty="0"/>
          </a:p>
        </p:txBody>
      </p:sp>
      <p:sp>
        <p:nvSpPr>
          <p:cNvPr id="17" name="Shape 15"/>
          <p:cNvSpPr/>
          <p:nvPr/>
        </p:nvSpPr>
        <p:spPr>
          <a:xfrm>
            <a:off x="5623560" y="1965960"/>
            <a:ext cx="3200400" cy="3154680"/>
          </a:xfrm>
          <a:prstGeom prst="rect">
            <a:avLst/>
          </a:prstGeom>
          <a:solidFill>
            <a:srgbClr val="1A2235"/>
          </a:solidFill>
          <a:ln w="12700">
            <a:solidFill>
              <a:srgbClr val="C9A84C"/>
            </a:solidFill>
            <a:prstDash val="solid"/>
          </a:ln>
        </p:spPr>
      </p:sp>
      <p:sp>
        <p:nvSpPr>
          <p:cNvPr id="18" name="Text 16"/>
          <p:cNvSpPr/>
          <p:nvPr/>
        </p:nvSpPr>
        <p:spPr>
          <a:xfrm>
            <a:off x="5760720" y="2057400"/>
            <a:ext cx="2926080" cy="329184"/>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Key Poems</a:t>
            </a:r>
            <a:endParaRPr lang="en-US" sz="1300" dirty="0"/>
          </a:p>
        </p:txBody>
      </p:sp>
      <p:sp>
        <p:nvSpPr>
          <p:cNvPr id="19" name="Text 17"/>
          <p:cNvSpPr/>
          <p:nvPr/>
        </p:nvSpPr>
        <p:spPr>
          <a:xfrm>
            <a:off x="5760720" y="2395728"/>
            <a:ext cx="2926080" cy="237744"/>
          </a:xfrm>
          <a:prstGeom prst="rect">
            <a:avLst/>
          </a:prstGeom>
          <a:noFill/>
          <a:ln/>
        </p:spPr>
        <p:txBody>
          <a:bodyPr wrap="square" rtlCol="0" anchor="ctr"/>
          <a:lstStyle/>
          <a:p>
            <a:pPr indent="0" marL="0">
              <a:buNone/>
            </a:pPr>
            <a:r>
              <a:rPr lang="en-US" sz="1100" b="1" dirty="0">
                <a:solidFill>
                  <a:srgbClr val="F0DFA0"/>
                </a:solidFill>
                <a:latin typeface="Cambria" pitchFamily="34" charset="0"/>
                <a:ea typeface="Cambria" pitchFamily="34" charset="-122"/>
                <a:cs typeface="Cambria" pitchFamily="34" charset="-120"/>
              </a:rPr>
              <a:t>God's Grandeur</a:t>
            </a:r>
            <a:endParaRPr lang="en-US" sz="1100" dirty="0"/>
          </a:p>
        </p:txBody>
      </p:sp>
      <p:sp>
        <p:nvSpPr>
          <p:cNvPr id="20" name="Text 18"/>
          <p:cNvSpPr/>
          <p:nvPr/>
        </p:nvSpPr>
        <p:spPr>
          <a:xfrm>
            <a:off x="5760720" y="2633472"/>
            <a:ext cx="2926080" cy="329184"/>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The world is full of God's energy — but humans have smothered it with industry. Yet: "nature is never spent."</a:t>
            </a:r>
            <a:endParaRPr lang="en-US" sz="950" dirty="0"/>
          </a:p>
        </p:txBody>
      </p:sp>
      <p:sp>
        <p:nvSpPr>
          <p:cNvPr id="21" name="Text 19"/>
          <p:cNvSpPr/>
          <p:nvPr/>
        </p:nvSpPr>
        <p:spPr>
          <a:xfrm>
            <a:off x="5760720" y="3054096"/>
            <a:ext cx="2926080" cy="237744"/>
          </a:xfrm>
          <a:prstGeom prst="rect">
            <a:avLst/>
          </a:prstGeom>
          <a:noFill/>
          <a:ln/>
        </p:spPr>
        <p:txBody>
          <a:bodyPr wrap="square" rtlCol="0" anchor="ctr"/>
          <a:lstStyle/>
          <a:p>
            <a:pPr indent="0" marL="0">
              <a:buNone/>
            </a:pPr>
            <a:r>
              <a:rPr lang="en-US" sz="1100" b="1" dirty="0">
                <a:solidFill>
                  <a:srgbClr val="F0DFA0"/>
                </a:solidFill>
                <a:latin typeface="Cambria" pitchFamily="34" charset="0"/>
                <a:ea typeface="Cambria" pitchFamily="34" charset="-122"/>
                <a:cs typeface="Cambria" pitchFamily="34" charset="-120"/>
              </a:rPr>
              <a:t>Pied Beauty</a:t>
            </a:r>
            <a:endParaRPr lang="en-US" sz="1100" dirty="0"/>
          </a:p>
        </p:txBody>
      </p:sp>
      <p:sp>
        <p:nvSpPr>
          <p:cNvPr id="22" name="Text 20"/>
          <p:cNvSpPr/>
          <p:nvPr/>
        </p:nvSpPr>
        <p:spPr>
          <a:xfrm>
            <a:off x="5760720" y="3291840"/>
            <a:ext cx="2926080" cy="329184"/>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A curtal sonnet (10.5 lines) praising all things "dappled" and varied — "rose-moles all in stipple upon trout."</a:t>
            </a:r>
            <a:endParaRPr lang="en-US" sz="950" dirty="0"/>
          </a:p>
        </p:txBody>
      </p:sp>
      <p:sp>
        <p:nvSpPr>
          <p:cNvPr id="23" name="Text 21"/>
          <p:cNvSpPr/>
          <p:nvPr/>
        </p:nvSpPr>
        <p:spPr>
          <a:xfrm>
            <a:off x="5760720" y="3712464"/>
            <a:ext cx="2926080" cy="237744"/>
          </a:xfrm>
          <a:prstGeom prst="rect">
            <a:avLst/>
          </a:prstGeom>
          <a:noFill/>
          <a:ln/>
        </p:spPr>
        <p:txBody>
          <a:bodyPr wrap="square" rtlCol="0" anchor="ctr"/>
          <a:lstStyle/>
          <a:p>
            <a:pPr indent="0" marL="0">
              <a:buNone/>
            </a:pPr>
            <a:r>
              <a:rPr lang="en-US" sz="1100" b="1" dirty="0">
                <a:solidFill>
                  <a:srgbClr val="F0DFA0"/>
                </a:solidFill>
                <a:latin typeface="Cambria" pitchFamily="34" charset="0"/>
                <a:ea typeface="Cambria" pitchFamily="34" charset="-122"/>
                <a:cs typeface="Cambria" pitchFamily="34" charset="-120"/>
              </a:rPr>
              <a:t>"The Windhover"</a:t>
            </a:r>
            <a:endParaRPr lang="en-US" sz="1100" dirty="0"/>
          </a:p>
        </p:txBody>
      </p:sp>
      <p:sp>
        <p:nvSpPr>
          <p:cNvPr id="24" name="Text 22"/>
          <p:cNvSpPr/>
          <p:nvPr/>
        </p:nvSpPr>
        <p:spPr>
          <a:xfrm>
            <a:off x="5760720" y="3950208"/>
            <a:ext cx="2926080" cy="329184"/>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A sonnet on a falcon in flight — and a meditation on Christ. Perhaps his finest poem.</a:t>
            </a:r>
            <a:endParaRPr lang="en-US" sz="950" dirty="0"/>
          </a:p>
        </p:txBody>
      </p:sp>
      <p:sp>
        <p:nvSpPr>
          <p:cNvPr id="25" name="Text 23"/>
          <p:cNvSpPr/>
          <p:nvPr/>
        </p:nvSpPr>
        <p:spPr>
          <a:xfrm>
            <a:off x="5760720" y="4370832"/>
            <a:ext cx="2926080" cy="237744"/>
          </a:xfrm>
          <a:prstGeom prst="rect">
            <a:avLst/>
          </a:prstGeom>
          <a:noFill/>
          <a:ln/>
        </p:spPr>
        <p:txBody>
          <a:bodyPr wrap="square" rtlCol="0" anchor="ctr"/>
          <a:lstStyle/>
          <a:p>
            <a:pPr indent="0" marL="0">
              <a:buNone/>
            </a:pPr>
            <a:r>
              <a:rPr lang="en-US" sz="1100" b="1" dirty="0">
                <a:solidFill>
                  <a:srgbClr val="F0DFA0"/>
                </a:solidFill>
                <a:latin typeface="Cambria" pitchFamily="34" charset="0"/>
                <a:ea typeface="Cambria" pitchFamily="34" charset="-122"/>
                <a:cs typeface="Cambria" pitchFamily="34" charset="-120"/>
              </a:rPr>
              <a:t>Terrible Sonnets</a:t>
            </a:r>
            <a:endParaRPr lang="en-US" sz="1100" dirty="0"/>
          </a:p>
        </p:txBody>
      </p:sp>
      <p:sp>
        <p:nvSpPr>
          <p:cNvPr id="26" name="Text 24"/>
          <p:cNvSpPr/>
          <p:nvPr/>
        </p:nvSpPr>
        <p:spPr>
          <a:xfrm>
            <a:off x="5760720" y="4608576"/>
            <a:ext cx="2926080" cy="329184"/>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Six dark sonnets of spiritual crisis: "I wake and feel the fell of dark, not day." The dark night of the soul.</a:t>
            </a:r>
            <a:endParaRPr lang="en-US" sz="950" dirty="0"/>
          </a:p>
        </p:txBody>
      </p:sp>
      <p:sp>
        <p:nvSpPr>
          <p:cNvPr id="27" name="Shape 25"/>
          <p:cNvSpPr/>
          <p:nvPr/>
        </p:nvSpPr>
        <p:spPr>
          <a:xfrm>
            <a:off x="5623560" y="4736592"/>
            <a:ext cx="3200400" cy="402336"/>
          </a:xfrm>
          <a:prstGeom prst="rect">
            <a:avLst/>
          </a:prstGeom>
          <a:solidFill>
            <a:srgbClr val="6B2737"/>
          </a:solidFill>
          <a:ln w="12700">
            <a:solidFill>
              <a:srgbClr val="6B2737"/>
            </a:solidFill>
            <a:prstDash val="solid"/>
          </a:ln>
        </p:spPr>
      </p:sp>
      <p:sp>
        <p:nvSpPr>
          <p:cNvPr id="28" name="Text 26"/>
          <p:cNvSpPr/>
          <p:nvPr/>
        </p:nvSpPr>
        <p:spPr>
          <a:xfrm>
            <a:off x="5669280" y="4754880"/>
            <a:ext cx="3108960" cy="365760"/>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Published 29 years after his death. No Victorian reader ever read Hopkins.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Text 1"/>
          <p:cNvSpPr/>
          <p:nvPr/>
        </p:nvSpPr>
        <p:spPr>
          <a:xfrm>
            <a:off x="5943600" y="-274320"/>
            <a:ext cx="3657600" cy="3657600"/>
          </a:xfrm>
          <a:prstGeom prst="rect">
            <a:avLst/>
          </a:prstGeom>
          <a:noFill/>
          <a:ln/>
        </p:spPr>
        <p:txBody>
          <a:bodyPr wrap="square" rtlCol="0" anchor="ctr"/>
          <a:lstStyle/>
          <a:p>
            <a:pPr indent="0" marL="0">
              <a:buNone/>
            </a:pPr>
            <a:r>
              <a:rPr lang="en-US" sz="28000" b="1" dirty="0">
                <a:solidFill>
                  <a:srgbClr val="6B2737">
                    <a:alpha val="25000"/>
                  </a:srgbClr>
                </a:solidFill>
                <a:latin typeface="Cambria" pitchFamily="34" charset="0"/>
                <a:ea typeface="Cambria" pitchFamily="34" charset="-122"/>
                <a:cs typeface="Cambria" pitchFamily="34" charset="-120"/>
              </a:rPr>
              <a:t>“</a:t>
            </a:r>
            <a:endParaRPr lang="en-US" sz="28000" dirty="0"/>
          </a:p>
        </p:txBody>
      </p:sp>
      <p:sp>
        <p:nvSpPr>
          <p:cNvPr id="4" name="Text 2"/>
          <p:cNvSpPr/>
          <p:nvPr/>
        </p:nvSpPr>
        <p:spPr>
          <a:xfrm>
            <a:off x="457200" y="274320"/>
            <a:ext cx="8229600" cy="658368"/>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What Victorian Poetry Gave Us</a:t>
            </a:r>
            <a:endParaRPr lang="en-US" sz="3200" dirty="0"/>
          </a:p>
        </p:txBody>
      </p:sp>
      <p:sp>
        <p:nvSpPr>
          <p:cNvPr id="5" name="Text 3"/>
          <p:cNvSpPr/>
          <p:nvPr/>
        </p:nvSpPr>
        <p:spPr>
          <a:xfrm>
            <a:off x="457200" y="960120"/>
            <a:ext cx="8229600" cy="347472"/>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And the other voices worth reading</a:t>
            </a:r>
            <a:endParaRPr lang="en-US" sz="1400" dirty="0"/>
          </a:p>
        </p:txBody>
      </p:sp>
      <p:sp>
        <p:nvSpPr>
          <p:cNvPr id="6" name="Shape 4"/>
          <p:cNvSpPr/>
          <p:nvPr/>
        </p:nvSpPr>
        <p:spPr>
          <a:xfrm>
            <a:off x="365760" y="1417320"/>
            <a:ext cx="4114800" cy="1371600"/>
          </a:xfrm>
          <a:prstGeom prst="rect">
            <a:avLst/>
          </a:prstGeom>
          <a:solidFill>
            <a:srgbClr val="1E2761"/>
          </a:solidFill>
          <a:ln w="12700">
            <a:solidFill>
              <a:srgbClr val="6B2737"/>
            </a:solidFill>
            <a:prstDash val="solid"/>
          </a:ln>
        </p:spPr>
      </p:sp>
      <p:sp>
        <p:nvSpPr>
          <p:cNvPr id="7" name="Text 5"/>
          <p:cNvSpPr/>
          <p:nvPr/>
        </p:nvSpPr>
        <p:spPr>
          <a:xfrm>
            <a:off x="502920" y="1508760"/>
            <a:ext cx="3840480" cy="347472"/>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  Dramatic Monologue</a:t>
            </a:r>
            <a:endParaRPr lang="en-US" sz="1300" dirty="0"/>
          </a:p>
        </p:txBody>
      </p:sp>
      <p:sp>
        <p:nvSpPr>
          <p:cNvPr id="8" name="Text 6"/>
          <p:cNvSpPr/>
          <p:nvPr/>
        </p:nvSpPr>
        <p:spPr>
          <a:xfrm>
            <a:off x="502920" y="1874520"/>
            <a:ext cx="3840480" cy="804672"/>
          </a:xfrm>
          <a:prstGeom prst="rect">
            <a:avLst/>
          </a:prstGeom>
          <a:noFill/>
          <a:ln/>
        </p:spPr>
        <p:txBody>
          <a:bodyPr wrap="square" rtlCol="0" anchor="ctr"/>
          <a:lstStyle/>
          <a:p>
            <a:pPr indent="0" marL="0">
              <a:buNone/>
            </a:pPr>
            <a:r>
              <a:rPr lang="en-US" sz="1100" dirty="0">
                <a:solidFill>
                  <a:srgbClr val="CCDDFF"/>
                </a:solidFill>
                <a:latin typeface="Calibri" pitchFamily="34" charset="0"/>
                <a:ea typeface="Calibri" pitchFamily="34" charset="-122"/>
                <a:cs typeface="Calibri" pitchFamily="34" charset="-120"/>
              </a:rPr>
              <a:t>Browning's invention became the foundation of modern character poetry — and influenced T.S. Eliot's Prufrock.</a:t>
            </a:r>
            <a:endParaRPr lang="en-US" sz="1100" dirty="0"/>
          </a:p>
        </p:txBody>
      </p:sp>
      <p:sp>
        <p:nvSpPr>
          <p:cNvPr id="9" name="Shape 7"/>
          <p:cNvSpPr/>
          <p:nvPr/>
        </p:nvSpPr>
        <p:spPr>
          <a:xfrm>
            <a:off x="4754880" y="1417320"/>
            <a:ext cx="4114800" cy="1371600"/>
          </a:xfrm>
          <a:prstGeom prst="rect">
            <a:avLst/>
          </a:prstGeom>
          <a:solidFill>
            <a:srgbClr val="1E2761"/>
          </a:solidFill>
          <a:ln w="12700">
            <a:solidFill>
              <a:srgbClr val="6B2737"/>
            </a:solidFill>
            <a:prstDash val="solid"/>
          </a:ln>
        </p:spPr>
      </p:sp>
      <p:sp>
        <p:nvSpPr>
          <p:cNvPr id="10" name="Text 8"/>
          <p:cNvSpPr/>
          <p:nvPr/>
        </p:nvSpPr>
        <p:spPr>
          <a:xfrm>
            <a:off x="4892040" y="1508760"/>
            <a:ext cx="3840480" cy="347472"/>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  Sprung Rhythm</a:t>
            </a:r>
            <a:endParaRPr lang="en-US" sz="1300" dirty="0"/>
          </a:p>
        </p:txBody>
      </p:sp>
      <p:sp>
        <p:nvSpPr>
          <p:cNvPr id="11" name="Text 9"/>
          <p:cNvSpPr/>
          <p:nvPr/>
        </p:nvSpPr>
        <p:spPr>
          <a:xfrm>
            <a:off x="4892040" y="1874520"/>
            <a:ext cx="3840480" cy="804672"/>
          </a:xfrm>
          <a:prstGeom prst="rect">
            <a:avLst/>
          </a:prstGeom>
          <a:noFill/>
          <a:ln/>
        </p:spPr>
        <p:txBody>
          <a:bodyPr wrap="square" rtlCol="0" anchor="ctr"/>
          <a:lstStyle/>
          <a:p>
            <a:pPr indent="0" marL="0">
              <a:buNone/>
            </a:pPr>
            <a:r>
              <a:rPr lang="en-US" sz="1100" dirty="0">
                <a:solidFill>
                  <a:srgbClr val="CCDDFF"/>
                </a:solidFill>
                <a:latin typeface="Calibri" pitchFamily="34" charset="0"/>
                <a:ea typeface="Calibri" pitchFamily="34" charset="-122"/>
                <a:cs typeface="Calibri" pitchFamily="34" charset="-120"/>
              </a:rPr>
              <a:t>Hopkins's experiments fed directly into 20th-century free verse. He is modernism's secret Victorian.</a:t>
            </a:r>
            <a:endParaRPr lang="en-US" sz="1100" dirty="0"/>
          </a:p>
        </p:txBody>
      </p:sp>
      <p:sp>
        <p:nvSpPr>
          <p:cNvPr id="12" name="Shape 10"/>
          <p:cNvSpPr/>
          <p:nvPr/>
        </p:nvSpPr>
        <p:spPr>
          <a:xfrm>
            <a:off x="365760" y="2971800"/>
            <a:ext cx="4114800" cy="1371600"/>
          </a:xfrm>
          <a:prstGeom prst="rect">
            <a:avLst/>
          </a:prstGeom>
          <a:solidFill>
            <a:srgbClr val="1E2761"/>
          </a:solidFill>
          <a:ln w="12700">
            <a:solidFill>
              <a:srgbClr val="6B2737"/>
            </a:solidFill>
            <a:prstDash val="solid"/>
          </a:ln>
        </p:spPr>
      </p:sp>
      <p:sp>
        <p:nvSpPr>
          <p:cNvPr id="13" name="Text 11"/>
          <p:cNvSpPr/>
          <p:nvPr/>
        </p:nvSpPr>
        <p:spPr>
          <a:xfrm>
            <a:off x="502920" y="3063240"/>
            <a:ext cx="3840480" cy="347472"/>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  Elegy as Argument</a:t>
            </a:r>
            <a:endParaRPr lang="en-US" sz="1300" dirty="0"/>
          </a:p>
        </p:txBody>
      </p:sp>
      <p:sp>
        <p:nvSpPr>
          <p:cNvPr id="14" name="Text 12"/>
          <p:cNvSpPr/>
          <p:nvPr/>
        </p:nvSpPr>
        <p:spPr>
          <a:xfrm>
            <a:off x="502920" y="3429000"/>
            <a:ext cx="3840480" cy="804672"/>
          </a:xfrm>
          <a:prstGeom prst="rect">
            <a:avLst/>
          </a:prstGeom>
          <a:noFill/>
          <a:ln/>
        </p:spPr>
        <p:txBody>
          <a:bodyPr wrap="square" rtlCol="0" anchor="ctr"/>
          <a:lstStyle/>
          <a:p>
            <a:pPr indent="0" marL="0">
              <a:buNone/>
            </a:pPr>
            <a:r>
              <a:rPr lang="en-US" sz="1100" dirty="0">
                <a:solidFill>
                  <a:srgbClr val="CCDDFF"/>
                </a:solidFill>
                <a:latin typeface="Calibri" pitchFamily="34" charset="0"/>
                <a:ea typeface="Calibri" pitchFamily="34" charset="-122"/>
                <a:cs typeface="Calibri" pitchFamily="34" charset="-120"/>
              </a:rPr>
              <a:t>Tennyson's "In Memoriam" showed grief can also be theology — a model for Auden, Heaney, and more.</a:t>
            </a:r>
            <a:endParaRPr lang="en-US" sz="1100" dirty="0"/>
          </a:p>
        </p:txBody>
      </p:sp>
      <p:sp>
        <p:nvSpPr>
          <p:cNvPr id="15" name="Shape 13"/>
          <p:cNvSpPr/>
          <p:nvPr/>
        </p:nvSpPr>
        <p:spPr>
          <a:xfrm>
            <a:off x="4754880" y="2971800"/>
            <a:ext cx="4114800" cy="1371600"/>
          </a:xfrm>
          <a:prstGeom prst="rect">
            <a:avLst/>
          </a:prstGeom>
          <a:solidFill>
            <a:srgbClr val="1E2761"/>
          </a:solidFill>
          <a:ln w="12700">
            <a:solidFill>
              <a:srgbClr val="6B2737"/>
            </a:solidFill>
            <a:prstDash val="solid"/>
          </a:ln>
        </p:spPr>
      </p:sp>
      <p:sp>
        <p:nvSpPr>
          <p:cNvPr id="16" name="Text 14"/>
          <p:cNvSpPr/>
          <p:nvPr/>
        </p:nvSpPr>
        <p:spPr>
          <a:xfrm>
            <a:off x="4892040" y="3063240"/>
            <a:ext cx="3840480" cy="347472"/>
          </a:xfrm>
          <a:prstGeom prst="rect">
            <a:avLst/>
          </a:prstGeom>
          <a:noFill/>
          <a:ln/>
        </p:spPr>
        <p:txBody>
          <a:bodyPr wrap="square" rtlCol="0" anchor="ctr"/>
          <a:lstStyle/>
          <a:p>
            <a:pPr indent="0" marL="0">
              <a:buNone/>
            </a:pPr>
            <a:r>
              <a:rPr lang="en-US" sz="1300" b="1" dirty="0">
                <a:solidFill>
                  <a:srgbClr val="C9A84C"/>
                </a:solidFill>
                <a:latin typeface="Cambria" pitchFamily="34" charset="0"/>
                <a:ea typeface="Cambria" pitchFamily="34" charset="-122"/>
                <a:cs typeface="Cambria" pitchFamily="34" charset="-120"/>
              </a:rPr>
              <a:t>🚺  Women's Voices</a:t>
            </a:r>
            <a:endParaRPr lang="en-US" sz="1300" dirty="0"/>
          </a:p>
        </p:txBody>
      </p:sp>
      <p:sp>
        <p:nvSpPr>
          <p:cNvPr id="17" name="Text 15"/>
          <p:cNvSpPr/>
          <p:nvPr/>
        </p:nvSpPr>
        <p:spPr>
          <a:xfrm>
            <a:off x="4892040" y="3429000"/>
            <a:ext cx="3840480" cy="804672"/>
          </a:xfrm>
          <a:prstGeom prst="rect">
            <a:avLst/>
          </a:prstGeom>
          <a:noFill/>
          <a:ln/>
        </p:spPr>
        <p:txBody>
          <a:bodyPr wrap="square" rtlCol="0" anchor="ctr"/>
          <a:lstStyle/>
          <a:p>
            <a:pPr indent="0" marL="0">
              <a:buNone/>
            </a:pPr>
            <a:r>
              <a:rPr lang="en-US" sz="1100" dirty="0">
                <a:solidFill>
                  <a:srgbClr val="CCDDFF"/>
                </a:solidFill>
                <a:latin typeface="Calibri" pitchFamily="34" charset="0"/>
                <a:ea typeface="Calibri" pitchFamily="34" charset="-122"/>
                <a:cs typeface="Calibri" pitchFamily="34" charset="-120"/>
              </a:rPr>
              <a:t>E.B. Browning and Rossetti opened the space for women poets to claim both desire and authority.</a:t>
            </a:r>
            <a:endParaRPr lang="en-US" sz="1100" dirty="0"/>
          </a:p>
        </p:txBody>
      </p:sp>
      <p:sp>
        <p:nvSpPr>
          <p:cNvPr id="18" name="Shape 16"/>
          <p:cNvSpPr/>
          <p:nvPr/>
        </p:nvSpPr>
        <p:spPr>
          <a:xfrm>
            <a:off x="365760" y="4572000"/>
            <a:ext cx="8412480" cy="548640"/>
          </a:xfrm>
          <a:prstGeom prst="rect">
            <a:avLst/>
          </a:prstGeom>
          <a:solidFill>
            <a:srgbClr val="6B2737"/>
          </a:solidFill>
          <a:ln w="12700">
            <a:solidFill>
              <a:srgbClr val="6B2737"/>
            </a:solidFill>
            <a:prstDash val="solid"/>
          </a:ln>
        </p:spPr>
      </p:sp>
      <p:sp>
        <p:nvSpPr>
          <p:cNvPr id="19" name="Text 17"/>
          <p:cNvSpPr/>
          <p:nvPr/>
        </p:nvSpPr>
        <p:spPr>
          <a:xfrm>
            <a:off x="502920" y="4590288"/>
            <a:ext cx="8275320" cy="51206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Also worth reading: Algernon Swinburne (pagan sensuality, musical verse) · Dante Gabriel Rossetti (Pre-Raphaelite, painterly) · A.E. Housman ("A Shropshire Lad") · Thomas Hardy (bleakness, ballad forms)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2026-07-22T06:09:02Z</dcterms:created>
  <dcterms:modified xsi:type="dcterms:W3CDTF">2026-07-22T06:09:02Z</dcterms:modified>
</cp:coreProperties>
</file>